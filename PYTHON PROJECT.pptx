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70" r:id="rId4"/>
    <p:sldId id="259" r:id="rId5"/>
    <p:sldId id="271" r:id="rId6"/>
    <p:sldId id="260" r:id="rId7"/>
    <p:sldId id="261" r:id="rId8"/>
    <p:sldId id="266" r:id="rId9"/>
    <p:sldId id="262" r:id="rId10"/>
    <p:sldId id="267" r:id="rId11"/>
    <p:sldId id="26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snapToObjects="1">
      <p:cViewPr varScale="1">
        <p:scale>
          <a:sx n="59" d="100"/>
          <a:sy n="59" d="100"/>
        </p:scale>
        <p:origin x="107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RAJA SINGH D" userId="bbd6c116c218b80c" providerId="LiveId" clId="{2D308AB0-0F25-40E2-9BD7-279C18666E82}"/>
    <pc:docChg chg="modSld">
      <pc:chgData name="SAM RAJA SINGH D" userId="bbd6c116c218b80c" providerId="LiveId" clId="{2D308AB0-0F25-40E2-9BD7-279C18666E82}" dt="2026-08-10T15:17:13.344" v="42" actId="20577"/>
      <pc:docMkLst>
        <pc:docMk/>
      </pc:docMkLst>
      <pc:sldChg chg="modSp mod">
        <pc:chgData name="SAM RAJA SINGH D" userId="bbd6c116c218b80c" providerId="LiveId" clId="{2D308AB0-0F25-40E2-9BD7-279C18666E82}" dt="2026-08-10T15:17:13.344" v="42" actId="20577"/>
        <pc:sldMkLst>
          <pc:docMk/>
          <pc:sldMk cId="0" sldId="256"/>
        </pc:sldMkLst>
        <pc:spChg chg="mod">
          <ac:chgData name="SAM RAJA SINGH D" userId="bbd6c116c218b80c" providerId="LiveId" clId="{2D308AB0-0F25-40E2-9BD7-279C18666E82}" dt="2026-08-10T15:17:13.344" v="42" actId="20577"/>
          <ac:spMkLst>
            <pc:docMk/>
            <pc:sldMk cId="0" sldId="256"/>
            <ac:spMk id="13" creationId="{F30D1DF2-62D3-A749-5F21-88E0E4D3525D}"/>
          </ac:spMkLst>
        </pc:spChg>
      </pc:sldChg>
      <pc:sldChg chg="addSp modSp mod">
        <pc:chgData name="SAM RAJA SINGH D" userId="bbd6c116c218b80c" providerId="LiveId" clId="{2D308AB0-0F25-40E2-9BD7-279C18666E82}" dt="2026-08-10T15:15:02.139" v="20" actId="14100"/>
        <pc:sldMkLst>
          <pc:docMk/>
          <pc:sldMk cId="0" sldId="260"/>
        </pc:sldMkLst>
        <pc:picChg chg="add mod">
          <ac:chgData name="SAM RAJA SINGH D" userId="bbd6c116c218b80c" providerId="LiveId" clId="{2D308AB0-0F25-40E2-9BD7-279C18666E82}" dt="2026-08-10T15:15:02.139" v="20" actId="14100"/>
          <ac:picMkLst>
            <pc:docMk/>
            <pc:sldMk cId="0" sldId="260"/>
            <ac:picMk id="7" creationId="{2CE5792D-0ABB-5440-1A45-01F3FFF11635}"/>
          </ac:picMkLst>
        </pc:picChg>
      </pc:sldChg>
      <pc:sldChg chg="addSp modSp mod">
        <pc:chgData name="SAM RAJA SINGH D" userId="bbd6c116c218b80c" providerId="LiveId" clId="{2D308AB0-0F25-40E2-9BD7-279C18666E82}" dt="2026-08-10T15:16:05.256" v="31" actId="1076"/>
        <pc:sldMkLst>
          <pc:docMk/>
          <pc:sldMk cId="0" sldId="261"/>
        </pc:sldMkLst>
        <pc:picChg chg="add mod modCrop">
          <ac:chgData name="SAM RAJA SINGH D" userId="bbd6c116c218b80c" providerId="LiveId" clId="{2D308AB0-0F25-40E2-9BD7-279C18666E82}" dt="2026-08-10T15:16:05.256" v="31" actId="1076"/>
          <ac:picMkLst>
            <pc:docMk/>
            <pc:sldMk cId="0" sldId="261"/>
            <ac:picMk id="6" creationId="{BB5185BB-5CF7-1778-306E-0753611A4A53}"/>
          </ac:picMkLst>
        </pc:picChg>
      </pc:sldChg>
      <pc:sldChg chg="addSp modSp mod">
        <pc:chgData name="SAM RAJA SINGH D" userId="bbd6c116c218b80c" providerId="LiveId" clId="{2D308AB0-0F25-40E2-9BD7-279C18666E82}" dt="2026-08-10T15:16:45.002" v="39" actId="1076"/>
        <pc:sldMkLst>
          <pc:docMk/>
          <pc:sldMk cId="730500307" sldId="267"/>
        </pc:sldMkLst>
        <pc:picChg chg="add mod">
          <ac:chgData name="SAM RAJA SINGH D" userId="bbd6c116c218b80c" providerId="LiveId" clId="{2D308AB0-0F25-40E2-9BD7-279C18666E82}" dt="2026-08-10T15:16:45.002" v="39" actId="1076"/>
          <ac:picMkLst>
            <pc:docMk/>
            <pc:sldMk cId="730500307" sldId="267"/>
            <ac:picMk id="4" creationId="{C55300FC-DB56-F4CE-4069-857B6116275B}"/>
          </ac:picMkLst>
        </pc:picChg>
      </pc:sldChg>
      <pc:sldChg chg="addSp modSp mod">
        <pc:chgData name="SAM RAJA SINGH D" userId="bbd6c116c218b80c" providerId="LiveId" clId="{2D308AB0-0F25-40E2-9BD7-279C18666E82}" dt="2026-08-10T15:14:17.325" v="12" actId="1076"/>
        <pc:sldMkLst>
          <pc:docMk/>
          <pc:sldMk cId="4155037321" sldId="271"/>
        </pc:sldMkLst>
        <pc:spChg chg="mod">
          <ac:chgData name="SAM RAJA SINGH D" userId="bbd6c116c218b80c" providerId="LiveId" clId="{2D308AB0-0F25-40E2-9BD7-279C18666E82}" dt="2026-08-10T15:14:09.110" v="10" actId="14100"/>
          <ac:spMkLst>
            <pc:docMk/>
            <pc:sldMk cId="4155037321" sldId="271"/>
            <ac:spMk id="5" creationId="{00000000-0000-0000-0000-000000000000}"/>
          </ac:spMkLst>
        </pc:spChg>
        <pc:picChg chg="add mod">
          <ac:chgData name="SAM RAJA SINGH D" userId="bbd6c116c218b80c" providerId="LiveId" clId="{2D308AB0-0F25-40E2-9BD7-279C18666E82}" dt="2026-08-10T15:14:17.325" v="12" actId="1076"/>
          <ac:picMkLst>
            <pc:docMk/>
            <pc:sldMk cId="4155037321" sldId="271"/>
            <ac:picMk id="9" creationId="{98C4B684-2B36-22A3-36EC-FA78313E098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B43F36-08C1-4111-A9E6-E946AB1582A9}"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1B4EB2-8680-46D6-9896-66A4998C93FD}" type="slidenum">
              <a:rPr lang="en-US" smtClean="0"/>
              <a:t>‹#›</a:t>
            </a:fld>
            <a:endParaRPr lang="en-US"/>
          </a:p>
        </p:txBody>
      </p:sp>
    </p:spTree>
    <p:extLst>
      <p:ext uri="{BB962C8B-B14F-4D97-AF65-F5344CB8AC3E}">
        <p14:creationId xmlns:p14="http://schemas.microsoft.com/office/powerpoint/2010/main" val="571900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1B4EB2-8680-46D6-9896-66A4998C93FD}" type="slidenum">
              <a:rPr lang="en-US" smtClean="0"/>
              <a:t>1</a:t>
            </a:fld>
            <a:endParaRPr lang="en-US"/>
          </a:p>
        </p:txBody>
      </p:sp>
    </p:spTree>
    <p:extLst>
      <p:ext uri="{BB962C8B-B14F-4D97-AF65-F5344CB8AC3E}">
        <p14:creationId xmlns:p14="http://schemas.microsoft.com/office/powerpoint/2010/main" val="33098969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Hospitals often face bed shortages and overcrowding in emergency departments. Our project provides a C++-based system that tracks bed availability in real time and allocates beds based on patient priority. It improves resource management, reduces delays, and helps doctors and administrators make faster decisions. </a:t>
            </a:r>
          </a:p>
        </p:txBody>
      </p:sp>
      <p:sp>
        <p:nvSpPr>
          <p:cNvPr id="4" name="Slide Number Placeholder 3"/>
          <p:cNvSpPr>
            <a:spLocks noGrp="1"/>
          </p:cNvSpPr>
          <p:nvPr>
            <p:ph type="sldNum" sz="quarter" idx="5"/>
          </p:nvPr>
        </p:nvSpPr>
        <p:spPr/>
        <p:txBody>
          <a:bodyPr/>
          <a:lstStyle/>
          <a:p>
            <a:fld id="{451B4EB2-8680-46D6-9896-66A4998C93FD}" type="slidenum">
              <a:rPr lang="en-US" smtClean="0"/>
              <a:t>2</a:t>
            </a:fld>
            <a:endParaRPr lang="en-US"/>
          </a:p>
        </p:txBody>
      </p:sp>
    </p:spTree>
    <p:extLst>
      <p:ext uri="{BB962C8B-B14F-4D97-AF65-F5344CB8AC3E}">
        <p14:creationId xmlns:p14="http://schemas.microsoft.com/office/powerpoint/2010/main" val="3705493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Hospitals often face bed shortages and overcrowding in emergency departments. Our project provides a C++-based system that tracks bed availability in real time and allocates beds based on patient priority. It improves resource management, reduces delays, and helps doctors and administrators make faster decisions. </a:t>
            </a:r>
          </a:p>
        </p:txBody>
      </p:sp>
      <p:sp>
        <p:nvSpPr>
          <p:cNvPr id="4" name="Slide Number Placeholder 3"/>
          <p:cNvSpPr>
            <a:spLocks noGrp="1"/>
          </p:cNvSpPr>
          <p:nvPr>
            <p:ph type="sldNum" sz="quarter" idx="5"/>
          </p:nvPr>
        </p:nvSpPr>
        <p:spPr/>
        <p:txBody>
          <a:bodyPr/>
          <a:lstStyle/>
          <a:p>
            <a:fld id="{451B4EB2-8680-46D6-9896-66A4998C93FD}" type="slidenum">
              <a:rPr lang="en-US" smtClean="0"/>
              <a:t>3</a:t>
            </a:fld>
            <a:endParaRPr lang="en-US"/>
          </a:p>
        </p:txBody>
      </p:sp>
    </p:spTree>
    <p:extLst>
      <p:ext uri="{BB962C8B-B14F-4D97-AF65-F5344CB8AC3E}">
        <p14:creationId xmlns:p14="http://schemas.microsoft.com/office/powerpoint/2010/main" val="1506961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Recent studies explored reinforcement learning and autonomous AI systems. While these methods improve emergency response, they require high computing power and raise security concerns. Our project instead uses efficient heuristic logic and localized encrypted databases to keep the system simple and secure. </a:t>
            </a:r>
          </a:p>
        </p:txBody>
      </p:sp>
      <p:sp>
        <p:nvSpPr>
          <p:cNvPr id="4" name="Slide Number Placeholder 3"/>
          <p:cNvSpPr>
            <a:spLocks noGrp="1"/>
          </p:cNvSpPr>
          <p:nvPr>
            <p:ph type="sldNum" sz="quarter" idx="5"/>
          </p:nvPr>
        </p:nvSpPr>
        <p:spPr/>
        <p:txBody>
          <a:bodyPr/>
          <a:lstStyle/>
          <a:p>
            <a:fld id="{451B4EB2-8680-46D6-9896-66A4998C93FD}" type="slidenum">
              <a:rPr lang="en-US" smtClean="0"/>
              <a:t>4</a:t>
            </a:fld>
            <a:endParaRPr lang="en-US"/>
          </a:p>
        </p:txBody>
      </p:sp>
    </p:spTree>
    <p:extLst>
      <p:ext uri="{BB962C8B-B14F-4D97-AF65-F5344CB8AC3E}">
        <p14:creationId xmlns:p14="http://schemas.microsoft.com/office/powerpoint/2010/main" val="3750268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Existing systems have several drawbacks: manual tracking errors, high implementation costs, poor integration between departments, dependence on technology without solving logistical issues, and slow response during emergency surges. Our project addresses these problems with a simple OOP-based approach. </a:t>
            </a:r>
          </a:p>
        </p:txBody>
      </p:sp>
      <p:sp>
        <p:nvSpPr>
          <p:cNvPr id="4" name="Slide Number Placeholder 3"/>
          <p:cNvSpPr>
            <a:spLocks noGrp="1"/>
          </p:cNvSpPr>
          <p:nvPr>
            <p:ph type="sldNum" sz="quarter" idx="5"/>
          </p:nvPr>
        </p:nvSpPr>
        <p:spPr/>
        <p:txBody>
          <a:bodyPr/>
          <a:lstStyle/>
          <a:p>
            <a:fld id="{451B4EB2-8680-46D6-9896-66A4998C93FD}" type="slidenum">
              <a:rPr lang="en-US" smtClean="0"/>
              <a:t>5</a:t>
            </a:fld>
            <a:endParaRPr lang="en-US"/>
          </a:p>
        </p:txBody>
      </p:sp>
    </p:spTree>
    <p:extLst>
      <p:ext uri="{BB962C8B-B14F-4D97-AF65-F5344CB8AC3E}">
        <p14:creationId xmlns:p14="http://schemas.microsoft.com/office/powerpoint/2010/main" val="13804939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Existing systems have several drawbacks: manual tracking errors, high implementation costs, poor integration between departments, dependence on technology without solving logistical issues, and slow response during emergency surges. Our project addresses these problems with a simple OOP-based approach. </a:t>
            </a:r>
          </a:p>
        </p:txBody>
      </p:sp>
      <p:sp>
        <p:nvSpPr>
          <p:cNvPr id="4" name="Slide Number Placeholder 3"/>
          <p:cNvSpPr>
            <a:spLocks noGrp="1"/>
          </p:cNvSpPr>
          <p:nvPr>
            <p:ph type="sldNum" sz="quarter" idx="5"/>
          </p:nvPr>
        </p:nvSpPr>
        <p:spPr/>
        <p:txBody>
          <a:bodyPr/>
          <a:lstStyle/>
          <a:p>
            <a:fld id="{451B4EB2-8680-46D6-9896-66A4998C93FD}" type="slidenum">
              <a:rPr lang="en-US" smtClean="0"/>
              <a:t>6</a:t>
            </a:fld>
            <a:endParaRPr lang="en-US"/>
          </a:p>
        </p:txBody>
      </p:sp>
    </p:spTree>
    <p:extLst>
      <p:ext uri="{BB962C8B-B14F-4D97-AF65-F5344CB8AC3E}">
        <p14:creationId xmlns:p14="http://schemas.microsoft.com/office/powerpoint/2010/main" val="2579584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main aims are to automate emergency bed allocation, integrate patient and resource data, provide a cost-effective solution using C++, and allocate resources based on patient priority. </a:t>
            </a:r>
          </a:p>
        </p:txBody>
      </p:sp>
      <p:sp>
        <p:nvSpPr>
          <p:cNvPr id="4" name="Slide Number Placeholder 3"/>
          <p:cNvSpPr>
            <a:spLocks noGrp="1"/>
          </p:cNvSpPr>
          <p:nvPr>
            <p:ph type="sldNum" sz="quarter" idx="5"/>
          </p:nvPr>
        </p:nvSpPr>
        <p:spPr/>
        <p:txBody>
          <a:bodyPr/>
          <a:lstStyle/>
          <a:p>
            <a:fld id="{451B4EB2-8680-46D6-9896-66A4998C93FD}" type="slidenum">
              <a:rPr lang="en-US" smtClean="0"/>
              <a:t>7</a:t>
            </a:fld>
            <a:endParaRPr lang="en-US"/>
          </a:p>
        </p:txBody>
      </p:sp>
    </p:spTree>
    <p:extLst>
      <p:ext uri="{BB962C8B-B14F-4D97-AF65-F5344CB8AC3E}">
        <p14:creationId xmlns:p14="http://schemas.microsoft.com/office/powerpoint/2010/main" val="3359846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C65FD-5E65-51EF-F665-19747158D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AD7033-4D1B-F50E-8FBB-EDC64BFE7B3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30E1440-2990-7F51-00BC-2118C15DAA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01E0F9-6EFA-E522-C668-1A43EC4DD63A}"/>
              </a:ext>
            </a:extLst>
          </p:cNvPr>
          <p:cNvSpPr>
            <a:spLocks noGrp="1"/>
          </p:cNvSpPr>
          <p:nvPr>
            <p:ph type="sldNum" sz="quarter" idx="5"/>
          </p:nvPr>
        </p:nvSpPr>
        <p:spPr/>
        <p:txBody>
          <a:bodyPr/>
          <a:lstStyle/>
          <a:p>
            <a:fld id="{451B4EB2-8680-46D6-9896-66A4998C93FD}" type="slidenum">
              <a:rPr lang="en-US" smtClean="0"/>
              <a:t>8</a:t>
            </a:fld>
            <a:endParaRPr lang="en-US"/>
          </a:p>
        </p:txBody>
      </p:sp>
    </p:spTree>
    <p:extLst>
      <p:ext uri="{BB962C8B-B14F-4D97-AF65-F5344CB8AC3E}">
        <p14:creationId xmlns:p14="http://schemas.microsoft.com/office/powerpoint/2010/main" val="859814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1B4EB2-8680-46D6-9896-66A4998C93FD}" type="slidenum">
              <a:rPr lang="en-US" smtClean="0"/>
              <a:t>9</a:t>
            </a:fld>
            <a:endParaRPr lang="en-US"/>
          </a:p>
        </p:txBody>
      </p:sp>
    </p:spTree>
    <p:extLst>
      <p:ext uri="{BB962C8B-B14F-4D97-AF65-F5344CB8AC3E}">
        <p14:creationId xmlns:p14="http://schemas.microsoft.com/office/powerpoint/2010/main" val="36739563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89328-74CB-6DF0-AD99-E369952BB0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4735A1-EB39-D152-BBD5-7D0ADEF6AD8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12BB130-DADD-61EA-835A-B11E4F455B1D}"/>
              </a:ext>
            </a:extLst>
          </p:cNvPr>
          <p:cNvSpPr>
            <a:spLocks noGrp="1"/>
          </p:cNvSpPr>
          <p:nvPr>
            <p:ph type="body" idx="1"/>
          </p:nvPr>
        </p:nvSpPr>
        <p:spPr/>
        <p:txBody>
          <a:bodyPr/>
          <a:lstStyle/>
          <a:p>
            <a:r>
              <a:rPr lang="en-US" dirty="0" err="1"/>
              <a:t>ur</a:t>
            </a:r>
            <a:r>
              <a:rPr lang="en-US" dirty="0"/>
              <a:t> system has four modules:</a:t>
            </a:r>
          </a:p>
          <a:p>
            <a:pPr lvl="0"/>
            <a:r>
              <a:rPr lang="en-US" b="1" dirty="0"/>
              <a:t>Patient Registry</a:t>
            </a:r>
            <a:r>
              <a:rPr lang="en-US" dirty="0"/>
              <a:t> – Stores patient details and priority. </a:t>
            </a:r>
          </a:p>
          <a:p>
            <a:pPr lvl="0"/>
            <a:r>
              <a:rPr lang="en-US" b="1" dirty="0"/>
              <a:t>Resource Manager</a:t>
            </a:r>
            <a:r>
              <a:rPr lang="en-US" dirty="0"/>
              <a:t> – Monitors beds and equipment. </a:t>
            </a:r>
          </a:p>
          <a:p>
            <a:pPr lvl="0"/>
            <a:r>
              <a:rPr lang="en-US" b="1" dirty="0"/>
              <a:t>Emergency Allocator</a:t>
            </a:r>
            <a:r>
              <a:rPr lang="en-US" dirty="0"/>
              <a:t> – Assigns beds based on urgency. </a:t>
            </a:r>
          </a:p>
          <a:p>
            <a:pPr lvl="0"/>
            <a:r>
              <a:rPr lang="en-US" b="1" dirty="0"/>
              <a:t>Discharge Planner</a:t>
            </a:r>
            <a:r>
              <a:rPr lang="en-US" dirty="0"/>
              <a:t> – Updates bed availability after discharge.</a:t>
            </a:r>
            <a:br>
              <a:rPr lang="en-US" dirty="0"/>
            </a:br>
            <a:r>
              <a:rPr lang="en-US" dirty="0"/>
              <a:t>Together, these modules ensure efficient hospital management. </a:t>
            </a:r>
          </a:p>
          <a:p>
            <a:endParaRPr lang="en-US" dirty="0"/>
          </a:p>
        </p:txBody>
      </p:sp>
      <p:sp>
        <p:nvSpPr>
          <p:cNvPr id="4" name="Slide Number Placeholder 3">
            <a:extLst>
              <a:ext uri="{FF2B5EF4-FFF2-40B4-BE49-F238E27FC236}">
                <a16:creationId xmlns:a16="http://schemas.microsoft.com/office/drawing/2014/main" id="{C000884B-4B00-7860-6A01-DB4B34612A7C}"/>
              </a:ext>
            </a:extLst>
          </p:cNvPr>
          <p:cNvSpPr>
            <a:spLocks noGrp="1"/>
          </p:cNvSpPr>
          <p:nvPr>
            <p:ph type="sldNum" sz="quarter" idx="5"/>
          </p:nvPr>
        </p:nvSpPr>
        <p:spPr/>
        <p:txBody>
          <a:bodyPr/>
          <a:lstStyle/>
          <a:p>
            <a:fld id="{451B4EB2-8680-46D6-9896-66A4998C93FD}" type="slidenum">
              <a:rPr lang="en-US" smtClean="0"/>
              <a:t>10</a:t>
            </a:fld>
            <a:endParaRPr lang="en-US"/>
          </a:p>
        </p:txBody>
      </p:sp>
    </p:spTree>
    <p:extLst>
      <p:ext uri="{BB962C8B-B14F-4D97-AF65-F5344CB8AC3E}">
        <p14:creationId xmlns:p14="http://schemas.microsoft.com/office/powerpoint/2010/main" val="3755965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B1504-FA50-BA44-6FAD-15191A660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6B612-25CE-B293-C967-F2AD35484507}"/>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213E5DB-36BD-317A-877A-1332EE6FCF2B}"/>
              </a:ext>
            </a:extLst>
          </p:cNvPr>
          <p:cNvSpPr>
            <a:spLocks noGrp="1"/>
          </p:cNvSpPr>
          <p:nvPr>
            <p:ph type="body" idx="1"/>
          </p:nvPr>
        </p:nvSpPr>
        <p:spPr/>
        <p:txBody>
          <a:bodyPr/>
          <a:lstStyle/>
          <a:p>
            <a:r>
              <a:rPr lang="en-US" dirty="0" err="1"/>
              <a:t>ur</a:t>
            </a:r>
            <a:r>
              <a:rPr lang="en-US" dirty="0"/>
              <a:t> system has four modules:</a:t>
            </a:r>
          </a:p>
          <a:p>
            <a:pPr lvl="0"/>
            <a:r>
              <a:rPr lang="en-US" b="1" dirty="0"/>
              <a:t>Patient Registry</a:t>
            </a:r>
            <a:r>
              <a:rPr lang="en-US" dirty="0"/>
              <a:t> – Stores patient details and priority. </a:t>
            </a:r>
          </a:p>
          <a:p>
            <a:pPr lvl="0"/>
            <a:r>
              <a:rPr lang="en-US" b="1" dirty="0"/>
              <a:t>Resource Manager</a:t>
            </a:r>
            <a:r>
              <a:rPr lang="en-US" dirty="0"/>
              <a:t> – Monitors beds and equipment. </a:t>
            </a:r>
          </a:p>
          <a:p>
            <a:pPr lvl="0"/>
            <a:r>
              <a:rPr lang="en-US" b="1" dirty="0"/>
              <a:t>Emergency Allocator</a:t>
            </a:r>
            <a:r>
              <a:rPr lang="en-US" dirty="0"/>
              <a:t> – Assigns beds based on urgency. </a:t>
            </a:r>
          </a:p>
          <a:p>
            <a:pPr lvl="0"/>
            <a:r>
              <a:rPr lang="en-US" b="1" dirty="0"/>
              <a:t>Discharge Planner</a:t>
            </a:r>
            <a:r>
              <a:rPr lang="en-US" dirty="0"/>
              <a:t> – Updates bed availability after discharge.</a:t>
            </a:r>
            <a:br>
              <a:rPr lang="en-US" dirty="0"/>
            </a:br>
            <a:r>
              <a:rPr lang="en-US" dirty="0"/>
              <a:t>Together, these modules ensure efficient hospital management. </a:t>
            </a:r>
          </a:p>
          <a:p>
            <a:endParaRPr lang="en-US" dirty="0"/>
          </a:p>
        </p:txBody>
      </p:sp>
      <p:sp>
        <p:nvSpPr>
          <p:cNvPr id="4" name="Slide Number Placeholder 3">
            <a:extLst>
              <a:ext uri="{FF2B5EF4-FFF2-40B4-BE49-F238E27FC236}">
                <a16:creationId xmlns:a16="http://schemas.microsoft.com/office/drawing/2014/main" id="{5E645F67-A041-E402-9DFB-6191D307FE23}"/>
              </a:ext>
            </a:extLst>
          </p:cNvPr>
          <p:cNvSpPr>
            <a:spLocks noGrp="1"/>
          </p:cNvSpPr>
          <p:nvPr>
            <p:ph type="sldNum" sz="quarter" idx="5"/>
          </p:nvPr>
        </p:nvSpPr>
        <p:spPr/>
        <p:txBody>
          <a:bodyPr/>
          <a:lstStyle/>
          <a:p>
            <a:fld id="{451B4EB2-8680-46D6-9896-66A4998C93FD}" type="slidenum">
              <a:rPr lang="en-US" smtClean="0"/>
              <a:t>11</a:t>
            </a:fld>
            <a:endParaRPr lang="en-US"/>
          </a:p>
        </p:txBody>
      </p:sp>
    </p:spTree>
    <p:extLst>
      <p:ext uri="{BB962C8B-B14F-4D97-AF65-F5344CB8AC3E}">
        <p14:creationId xmlns:p14="http://schemas.microsoft.com/office/powerpoint/2010/main" val="1245173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6" name="TextBox 5"/>
          <p:cNvSpPr txBox="1"/>
          <p:nvPr/>
        </p:nvSpPr>
        <p:spPr>
          <a:xfrm>
            <a:off x="295275" y="1296441"/>
            <a:ext cx="11601450" cy="216085"/>
          </a:xfrm>
          <a:prstGeom prst="rect">
            <a:avLst/>
          </a:prstGeom>
          <a:noFill/>
        </p:spPr>
        <p:txBody>
          <a:bodyPr wrap="square" lIns="0" tIns="0" rIns="0" bIns="0" anchor="t">
            <a:spAutoFit/>
          </a:bodyPr>
          <a:lstStyle/>
          <a:p>
            <a:pPr algn="ctr"/>
            <a:r>
              <a:rPr lang="en-US" sz="1404" b="1" i="0" u="none" dirty="0">
                <a:solidFill>
                  <a:srgbClr val="3B82F6"/>
                </a:solidFill>
                <a:latin typeface="Poppins"/>
              </a:rPr>
              <a:t>C</a:t>
            </a:r>
            <a:r>
              <a:rPr sz="1404" b="1" i="0" u="none" dirty="0">
                <a:solidFill>
                  <a:srgbClr val="3B82F6"/>
                </a:solidFill>
                <a:latin typeface="Poppins"/>
              </a:rPr>
              <a:t>SA0</a:t>
            </a:r>
            <a:r>
              <a:rPr lang="en-US" sz="1404" b="1" i="0" u="none" dirty="0">
                <a:solidFill>
                  <a:srgbClr val="3B82F6"/>
                </a:solidFill>
                <a:latin typeface="Poppins"/>
              </a:rPr>
              <a:t>8</a:t>
            </a:r>
            <a:r>
              <a:rPr sz="1404" b="1" i="0" u="none" dirty="0">
                <a:solidFill>
                  <a:srgbClr val="3B82F6"/>
                </a:solidFill>
                <a:latin typeface="Poppins"/>
              </a:rPr>
              <a:t>0</a:t>
            </a:r>
            <a:r>
              <a:rPr lang="en-US" sz="1404" b="1" i="0" u="none" dirty="0">
                <a:solidFill>
                  <a:srgbClr val="3B82F6"/>
                </a:solidFill>
                <a:latin typeface="Poppins"/>
              </a:rPr>
              <a:t>3</a:t>
            </a:r>
            <a:endParaRPr sz="1404" b="1" i="0" u="none" dirty="0">
              <a:solidFill>
                <a:srgbClr val="3B82F6"/>
              </a:solidFill>
              <a:latin typeface="Poppins"/>
            </a:endParaRPr>
          </a:p>
        </p:txBody>
      </p:sp>
      <p:sp>
        <p:nvSpPr>
          <p:cNvPr id="7" name="TextBox 6"/>
          <p:cNvSpPr txBox="1"/>
          <p:nvPr/>
        </p:nvSpPr>
        <p:spPr>
          <a:xfrm>
            <a:off x="295275" y="1572666"/>
            <a:ext cx="11601450" cy="984885"/>
          </a:xfrm>
          <a:prstGeom prst="rect">
            <a:avLst/>
          </a:prstGeom>
          <a:noFill/>
        </p:spPr>
        <p:txBody>
          <a:bodyPr wrap="square" lIns="0" tIns="0" rIns="0" bIns="0" anchor="t">
            <a:spAutoFit/>
          </a:bodyPr>
          <a:lstStyle/>
          <a:p>
            <a:pPr algn="ctr"/>
            <a:r>
              <a:rPr lang="en-IN" sz="3200" b="1" dirty="0">
                <a:solidFill>
                  <a:schemeClr val="tx2"/>
                </a:solidFill>
                <a:latin typeface="Rockwell Extra Bold" panose="02060903040505020403" pitchFamily="18" charset="0"/>
              </a:rPr>
              <a:t>PERSONAL EXPENSE TRACKER WITH </a:t>
            </a:r>
          </a:p>
          <a:p>
            <a:pPr algn="ctr"/>
            <a:r>
              <a:rPr lang="en-IN" sz="3200" b="1" dirty="0">
                <a:solidFill>
                  <a:schemeClr val="tx2"/>
                </a:solidFill>
                <a:latin typeface="Rockwell Extra Bold" panose="02060903040505020403" pitchFamily="18" charset="0"/>
              </a:rPr>
              <a:t>DATA VISUALIZATION</a:t>
            </a:r>
          </a:p>
        </p:txBody>
      </p:sp>
      <p:pic>
        <p:nvPicPr>
          <p:cNvPr id="16" name="Picture 15">
            <a:extLst>
              <a:ext uri="{FF2B5EF4-FFF2-40B4-BE49-F238E27FC236}">
                <a16:creationId xmlns:a16="http://schemas.microsoft.com/office/drawing/2014/main" id="{9DB26D0B-D01B-98F7-5273-39581F5619B1}"/>
              </a:ext>
            </a:extLst>
          </p:cNvPr>
          <p:cNvPicPr>
            <a:picLocks noChangeAspect="1"/>
          </p:cNvPicPr>
          <p:nvPr/>
        </p:nvPicPr>
        <p:blipFill>
          <a:blip r:embed="rId4"/>
          <a:stretch>
            <a:fillRect/>
          </a:stretch>
        </p:blipFill>
        <p:spPr>
          <a:xfrm>
            <a:off x="8216801" y="96291"/>
            <a:ext cx="3451864" cy="829056"/>
          </a:xfrm>
          <a:prstGeom prst="rect">
            <a:avLst/>
          </a:prstGeom>
        </p:spPr>
      </p:pic>
      <p:pic>
        <p:nvPicPr>
          <p:cNvPr id="18" name="Picture 17">
            <a:extLst>
              <a:ext uri="{FF2B5EF4-FFF2-40B4-BE49-F238E27FC236}">
                <a16:creationId xmlns:a16="http://schemas.microsoft.com/office/drawing/2014/main" id="{21C93D03-6E0A-2177-42D2-1B72517383B0}"/>
              </a:ext>
            </a:extLst>
          </p:cNvPr>
          <p:cNvPicPr>
            <a:picLocks noChangeAspect="1"/>
          </p:cNvPicPr>
          <p:nvPr/>
        </p:nvPicPr>
        <p:blipFill>
          <a:blip r:embed="rId5"/>
          <a:stretch>
            <a:fillRect/>
          </a:stretch>
        </p:blipFill>
        <p:spPr>
          <a:xfrm>
            <a:off x="298401" y="92221"/>
            <a:ext cx="3810000" cy="829056"/>
          </a:xfrm>
          <a:prstGeom prst="rect">
            <a:avLst/>
          </a:prstGeom>
        </p:spPr>
      </p:pic>
      <p:cxnSp>
        <p:nvCxnSpPr>
          <p:cNvPr id="20" name="Straight Connector 19">
            <a:extLst>
              <a:ext uri="{FF2B5EF4-FFF2-40B4-BE49-F238E27FC236}">
                <a16:creationId xmlns:a16="http://schemas.microsoft.com/office/drawing/2014/main" id="{18523154-2D87-A19D-04AA-8F0C23C27F6C}"/>
              </a:ext>
            </a:extLst>
          </p:cNvPr>
          <p:cNvCxnSpPr>
            <a:cxnSpLocks/>
          </p:cNvCxnSpPr>
          <p:nvPr/>
        </p:nvCxnSpPr>
        <p:spPr>
          <a:xfrm>
            <a:off x="0" y="1111777"/>
            <a:ext cx="12192000" cy="12206"/>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30D1DF2-62D3-A749-5F21-88E0E4D3525D}"/>
              </a:ext>
            </a:extLst>
          </p:cNvPr>
          <p:cNvSpPr txBox="1"/>
          <p:nvPr/>
        </p:nvSpPr>
        <p:spPr>
          <a:xfrm>
            <a:off x="206830" y="2913303"/>
            <a:ext cx="11843656" cy="2585323"/>
          </a:xfrm>
          <a:prstGeom prst="rect">
            <a:avLst/>
          </a:prstGeom>
          <a:noFill/>
        </p:spPr>
        <p:txBody>
          <a:bodyPr wrap="square" rtlCol="0">
            <a:spAutoFit/>
          </a:bodyPr>
          <a:lstStyle/>
          <a:p>
            <a:pPr>
              <a:lnSpc>
                <a:spcPct val="200000"/>
              </a:lnSpc>
            </a:pPr>
            <a:r>
              <a:rPr lang="en-US" b="1" dirty="0">
                <a:latin typeface="Times New Roman" panose="02020603050405020304" pitchFamily="18" charset="0"/>
                <a:cs typeface="Times New Roman" panose="02020603050405020304" pitchFamily="18" charset="0"/>
              </a:rPr>
              <a:t>Student name</a:t>
            </a:r>
            <a:r>
              <a:rPr lang="en-IN" b="1"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Paul Davidson</a:t>
            </a:r>
            <a:r>
              <a:rPr lang="en-US" dirty="0">
                <a:latin typeface="Times New Roman" panose="02020603050405020304" pitchFamily="18" charset="0"/>
                <a:cs typeface="Times New Roman" panose="02020603050405020304" pitchFamily="18" charset="0"/>
              </a:rPr>
              <a:t>      Glory Andrea Beryl      </a:t>
            </a:r>
            <a:r>
              <a:rPr lang="en-IN" dirty="0">
                <a:latin typeface="Times New Roman" panose="02020603050405020304" pitchFamily="18" charset="0"/>
                <a:cs typeface="Times New Roman" panose="02020603050405020304" pitchFamily="18" charset="0"/>
              </a:rPr>
              <a:t>Devadharshini Murugesh</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Gokul             JAICHITRA </a:t>
            </a:r>
            <a:endParaRPr lang="en-US" dirty="0">
              <a:latin typeface="Times New Roman" panose="02020603050405020304" pitchFamily="18" charset="0"/>
              <a:cs typeface="Times New Roman" panose="02020603050405020304" pitchFamily="18" charset="0"/>
            </a:endParaRPr>
          </a:p>
          <a:p>
            <a:pPr>
              <a:lnSpc>
                <a:spcPct val="200000"/>
              </a:lnSpc>
            </a:pPr>
            <a:r>
              <a:rPr lang="en-US" b="1" dirty="0">
                <a:latin typeface="Times New Roman" panose="02020603050405020304" pitchFamily="18" charset="0"/>
                <a:cs typeface="Times New Roman" panose="02020603050405020304" pitchFamily="18" charset="0"/>
              </a:rPr>
              <a:t>Register number: </a:t>
            </a:r>
            <a:r>
              <a:rPr lang="en-US" dirty="0">
                <a:latin typeface="Times New Roman" panose="02020603050405020304" pitchFamily="18" charset="0"/>
                <a:cs typeface="Times New Roman" panose="02020603050405020304" pitchFamily="18" charset="0"/>
              </a:rPr>
              <a:t>             1972260007          1971260011                      1925260001              1971260009        1925260017</a:t>
            </a:r>
          </a:p>
          <a:p>
            <a:pPr>
              <a:lnSpc>
                <a:spcPct val="200000"/>
              </a:lnSpc>
            </a:pPr>
            <a:r>
              <a:rPr lang="en-US" b="1" dirty="0">
                <a:latin typeface="Times New Roman" panose="02020603050405020304" pitchFamily="18" charset="0"/>
                <a:cs typeface="Times New Roman" panose="02020603050405020304" pitchFamily="18" charset="0"/>
              </a:rPr>
              <a:t>Subject:                       </a:t>
            </a:r>
            <a:r>
              <a:rPr lang="en-US" dirty="0">
                <a:latin typeface="Times New Roman" panose="02020603050405020304" pitchFamily="18" charset="0"/>
                <a:cs typeface="Times New Roman" panose="02020603050405020304" pitchFamily="18" charset="0"/>
              </a:rPr>
              <a:t>Python programing (SLOT A)</a:t>
            </a:r>
          </a:p>
          <a:p>
            <a:pPr>
              <a:lnSpc>
                <a:spcPct val="200000"/>
              </a:lnSpc>
            </a:pPr>
            <a:r>
              <a:rPr lang="en-IN" b="1" dirty="0">
                <a:latin typeface="Times New Roman" panose="02020603050405020304" pitchFamily="18" charset="0"/>
                <a:cs typeface="Times New Roman" panose="02020603050405020304" pitchFamily="18" charset="0"/>
              </a:rPr>
              <a:t>Faculty Name</a:t>
            </a:r>
            <a:r>
              <a:rPr lang="en-IN" b="1">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Dr</a:t>
            </a:r>
            <a:r>
              <a:rPr lang="en-IN" dirty="0">
                <a:latin typeface="Times New Roman" panose="02020603050405020304" pitchFamily="18" charset="0"/>
                <a:cs typeface="Times New Roman" panose="02020603050405020304" pitchFamily="18" charset="0"/>
              </a:rPr>
              <a:t>. Samson </a:t>
            </a:r>
            <a:r>
              <a:rPr lang="en-IN" dirty="0" err="1">
                <a:latin typeface="Times New Roman" panose="02020603050405020304" pitchFamily="18" charset="0"/>
                <a:cs typeface="Times New Roman" panose="02020603050405020304" pitchFamily="18" charset="0"/>
              </a:rPr>
              <a:t>Ebenazar</a:t>
            </a:r>
            <a:endParaRPr lang="en-IN"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397325" y="1059368"/>
            <a:ext cx="11488511" cy="4943020"/>
          </a:xfrm>
          <a:prstGeom prst="rect">
            <a:avLst/>
          </a:prstGeom>
          <a:noFill/>
        </p:spPr>
        <p:txBody>
          <a:bodyPr wrap="square" lIns="0" tIns="0" rIns="0" bIns="0" anchor="t">
            <a:spAutoFit/>
          </a:bodyPr>
          <a:lstStyle/>
          <a:p>
            <a:pPr algn="just">
              <a:lnSpc>
                <a:spcPct val="150000"/>
              </a:lnSpc>
            </a:pPr>
            <a:r>
              <a:rPr lang="en-IN" dirty="0">
                <a:latin typeface="Times New Roman" panose="02020603050405020304" pitchFamily="18" charset="0"/>
                <a:cs typeface="Times New Roman" panose="02020603050405020304" pitchFamily="18" charset="0"/>
              </a:rPr>
              <a:t>The </a:t>
            </a:r>
            <a:r>
              <a:rPr lang="en-IN" b="1" dirty="0">
                <a:latin typeface="Times New Roman" panose="02020603050405020304" pitchFamily="18" charset="0"/>
                <a:cs typeface="Times New Roman" panose="02020603050405020304" pitchFamily="18" charset="0"/>
              </a:rPr>
              <a:t>Personal Expense Tracker with Data Visualization</a:t>
            </a:r>
            <a:r>
              <a:rPr lang="en-IN" dirty="0">
                <a:latin typeface="Times New Roman" panose="02020603050405020304" pitchFamily="18" charset="0"/>
                <a:cs typeface="Times New Roman" panose="02020603050405020304" pitchFamily="18" charset="0"/>
              </a:rPr>
              <a:t> is a Python-based application designed to simplify and improve personal financial management. Managing daily income and expenses manually can be time-consuming, difficult to organize, and prone to calculation errors. The proposed system provides a simple and user-friendly platform where users can record, categorize, update, delete, and search their financial transactions. The application is developed using </a:t>
            </a:r>
            <a:r>
              <a:rPr lang="en-IN" b="1" dirty="0">
                <a:latin typeface="Times New Roman" panose="02020603050405020304" pitchFamily="18" charset="0"/>
                <a:cs typeface="Times New Roman" panose="02020603050405020304" pitchFamily="18" charset="0"/>
              </a:rPr>
              <a:t>Python</a:t>
            </a:r>
            <a:r>
              <a:rPr lang="en-IN" dirty="0">
                <a:latin typeface="Times New Roman" panose="02020603050405020304" pitchFamily="18" charset="0"/>
                <a:cs typeface="Times New Roman" panose="02020603050405020304" pitchFamily="18" charset="0"/>
              </a:rPr>
              <a:t>, with </a:t>
            </a:r>
            <a:r>
              <a:rPr lang="en-IN" b="1" dirty="0">
                <a:latin typeface="Times New Roman" panose="02020603050405020304" pitchFamily="18" charset="0"/>
                <a:cs typeface="Times New Roman" panose="02020603050405020304" pitchFamily="18" charset="0"/>
              </a:rPr>
              <a:t>Tkinter</a:t>
            </a:r>
            <a:r>
              <a:rPr lang="en-IN" dirty="0">
                <a:latin typeface="Times New Roman" panose="02020603050405020304" pitchFamily="18" charset="0"/>
                <a:cs typeface="Times New Roman" panose="02020603050405020304" pitchFamily="18" charset="0"/>
              </a:rPr>
              <a:t> used to create the graphical user interface, </a:t>
            </a:r>
            <a:r>
              <a:rPr lang="en-IN" b="1" dirty="0">
                <a:latin typeface="Times New Roman" panose="02020603050405020304" pitchFamily="18" charset="0"/>
                <a:cs typeface="Times New Roman" panose="02020603050405020304" pitchFamily="18" charset="0"/>
              </a:rPr>
              <a:t>SQLite</a:t>
            </a:r>
            <a:r>
              <a:rPr lang="en-IN" dirty="0">
                <a:latin typeface="Times New Roman" panose="02020603050405020304" pitchFamily="18" charset="0"/>
                <a:cs typeface="Times New Roman" panose="02020603050405020304" pitchFamily="18" charset="0"/>
              </a:rPr>
              <a:t> used for reliable storage of financial records, and </a:t>
            </a:r>
            <a:r>
              <a:rPr lang="en-IN" b="1" dirty="0">
                <a:latin typeface="Times New Roman" panose="02020603050405020304" pitchFamily="18" charset="0"/>
                <a:cs typeface="Times New Roman" panose="02020603050405020304" pitchFamily="18" charset="0"/>
              </a:rPr>
              <a:t>Matplotlib</a:t>
            </a:r>
            <a:r>
              <a:rPr lang="en-IN" dirty="0">
                <a:latin typeface="Times New Roman" panose="02020603050405020304" pitchFamily="18" charset="0"/>
                <a:cs typeface="Times New Roman" panose="02020603050405020304" pitchFamily="18" charset="0"/>
              </a:rPr>
              <a:t> used for data visualization. The system categorizes expenses into areas such as food, travel, shopping, bills, education, and entertainment, allowing users to understand their spending patterns more effectively. Pie charts display category-wise expense distribution, while bar graphs provide a comparison of monthly expenses. The system also calculates total income, total expenses, and remaining balance to provide a clear financial summary. By combining database management with graphical visualization, the application reduces manual calculations and improves record organization. Overall, the project demonstrates the practical application of Python programming, GUI development, database management, and data visualization to create an efficient and accessible personal finance management solution.</a:t>
            </a:r>
          </a:p>
        </p:txBody>
      </p:sp>
      <p:sp>
        <p:nvSpPr>
          <p:cNvPr id="4" name="TextBox 3"/>
          <p:cNvSpPr txBox="1"/>
          <p:nvPr/>
        </p:nvSpPr>
        <p:spPr>
          <a:xfrm>
            <a:off x="440869" y="252770"/>
            <a:ext cx="11401425" cy="492443"/>
          </a:xfrm>
          <a:prstGeom prst="rect">
            <a:avLst/>
          </a:prstGeom>
          <a:noFill/>
        </p:spPr>
        <p:txBody>
          <a:bodyPr wrap="square" lIns="0" tIns="0" rIns="0" bIns="0" anchor="t">
            <a:spAutoFit/>
          </a:bodyPr>
          <a:lstStyle/>
          <a:p>
            <a:pPr algn="l"/>
            <a:r>
              <a:rPr lang="en-IN" sz="3200" dirty="0">
                <a:latin typeface="Britannic Bold" panose="020B0903060703020204" pitchFamily="34" charset="0"/>
              </a:rPr>
              <a:t>ABSTRACT</a:t>
            </a:r>
          </a:p>
        </p:txBody>
      </p:sp>
      <p:pic>
        <p:nvPicPr>
          <p:cNvPr id="13" name="Picture 12">
            <a:extLst>
              <a:ext uri="{FF2B5EF4-FFF2-40B4-BE49-F238E27FC236}">
                <a16:creationId xmlns:a16="http://schemas.microsoft.com/office/drawing/2014/main" id="{8ECD18D2-488B-7247-539B-68203C47628A}"/>
              </a:ext>
            </a:extLst>
          </p:cNvPr>
          <p:cNvPicPr>
            <a:picLocks noChangeAspect="1"/>
          </p:cNvPicPr>
          <p:nvPr/>
        </p:nvPicPr>
        <p:blipFill>
          <a:blip r:embed="rId4"/>
          <a:stretch>
            <a:fillRect/>
          </a:stretch>
        </p:blipFill>
        <p:spPr>
          <a:xfrm>
            <a:off x="9102992" y="84046"/>
            <a:ext cx="2686237" cy="72255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3" name="TextBox 2"/>
          <p:cNvSpPr txBox="1"/>
          <p:nvPr/>
        </p:nvSpPr>
        <p:spPr>
          <a:xfrm>
            <a:off x="498021" y="1042172"/>
            <a:ext cx="7157357" cy="5905719"/>
          </a:xfrm>
          <a:prstGeom prst="rect">
            <a:avLst/>
          </a:prstGeom>
          <a:noFill/>
        </p:spPr>
        <p:txBody>
          <a:bodyPr wrap="square" lIns="0" tIns="0" rIns="0" bIns="0" anchor="t">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Managing money effectively is important for maintaining financial stability. Traditional methods such as notebooks or spreadsheets can be time-consuming and may make it difficult to identify spending patterns.</a:t>
            </a:r>
          </a:p>
          <a:p>
            <a:pPr algn="just">
              <a:lnSpc>
                <a:spcPct val="150000"/>
              </a:lnSpc>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Personal Expense Tracker</a:t>
            </a:r>
            <a:r>
              <a:rPr lang="en-IN" sz="2000" dirty="0">
                <a:latin typeface="Times New Roman" panose="02020603050405020304" pitchFamily="18" charset="0"/>
                <a:cs typeface="Times New Roman" panose="02020603050405020304" pitchFamily="18" charset="0"/>
              </a:rPr>
              <a:t> provides a simple digital solution for recording income and expenses. Users can categorize expenses such as </a:t>
            </a:r>
            <a:r>
              <a:rPr lang="en-IN" sz="2000" b="1" dirty="0">
                <a:latin typeface="Times New Roman" panose="02020603050405020304" pitchFamily="18" charset="0"/>
                <a:cs typeface="Times New Roman" panose="02020603050405020304" pitchFamily="18" charset="0"/>
              </a:rPr>
              <a:t>Food, Travel, Shopping, Bills, Education, and Entertainment</a:t>
            </a:r>
            <a:r>
              <a:rPr lang="en-IN" sz="2000" dirty="0">
                <a:latin typeface="Times New Roman" panose="02020603050405020304" pitchFamily="18" charset="0"/>
                <a:cs typeface="Times New Roman" panose="02020603050405020304" pitchFamily="18" charset="0"/>
              </a:rPr>
              <a:t>. The system stores the records in an SQLite database and provides graphical visualization of spending.</a:t>
            </a:r>
          </a:p>
          <a:p>
            <a:pPr algn="just">
              <a:lnSpc>
                <a:spcPct val="150000"/>
              </a:lnSpc>
            </a:pPr>
            <a:r>
              <a:rPr lang="en-IN" sz="2000" dirty="0">
                <a:latin typeface="Times New Roman" panose="02020603050405020304" pitchFamily="18" charset="0"/>
                <a:cs typeface="Times New Roman" panose="02020603050405020304" pitchFamily="18" charset="0"/>
              </a:rPr>
              <a:t>The project demonstrates the practical application of </a:t>
            </a:r>
            <a:r>
              <a:rPr lang="en-IN" sz="2000" b="1" dirty="0">
                <a:latin typeface="Times New Roman" panose="02020603050405020304" pitchFamily="18" charset="0"/>
                <a:cs typeface="Times New Roman" panose="02020603050405020304" pitchFamily="18" charset="0"/>
              </a:rPr>
              <a:t>Python programming, GUI development, database management, and data visualization</a:t>
            </a:r>
            <a:r>
              <a:rPr lang="en-IN" sz="2000" dirty="0">
                <a:latin typeface="Times New Roman" panose="02020603050405020304" pitchFamily="18" charset="0"/>
                <a:cs typeface="Times New Roman" panose="02020603050405020304" pitchFamily="18" charset="0"/>
              </a:rPr>
              <a:t>.</a:t>
            </a:r>
          </a:p>
          <a:p>
            <a:pPr algn="just">
              <a:lnSpc>
                <a:spcPct val="150000"/>
              </a:lnSpc>
            </a:pPr>
            <a:endParaRPr lang="en-IN" dirty="0">
              <a:latin typeface="Times New Roman" panose="02020603050405020304" pitchFamily="18" charset="0"/>
              <a:cs typeface="Times New Roman" panose="02020603050405020304" pitchFamily="18" charset="0"/>
            </a:endParaRPr>
          </a:p>
        </p:txBody>
      </p:sp>
      <p:sp>
        <p:nvSpPr>
          <p:cNvPr id="4" name="TextBox 3"/>
          <p:cNvSpPr txBox="1"/>
          <p:nvPr/>
        </p:nvSpPr>
        <p:spPr>
          <a:xfrm>
            <a:off x="495300" y="571500"/>
            <a:ext cx="11401425" cy="492443"/>
          </a:xfrm>
          <a:prstGeom prst="rect">
            <a:avLst/>
          </a:prstGeom>
          <a:noFill/>
        </p:spPr>
        <p:txBody>
          <a:bodyPr wrap="square" lIns="0" tIns="0" rIns="0" bIns="0" anchor="t">
            <a:spAutoFit/>
          </a:bodyPr>
          <a:lstStyle/>
          <a:p>
            <a:pPr algn="l"/>
            <a:r>
              <a:rPr lang="en-IN" sz="3200" dirty="0">
                <a:latin typeface="Britannic Bold" panose="020B0903060703020204" pitchFamily="34" charset="0"/>
              </a:rPr>
              <a:t>INTRODUCTION</a:t>
            </a:r>
            <a:endParaRPr sz="3200" dirty="0">
              <a:latin typeface="Britannic Bold" panose="020B0903060703020204" pitchFamily="34" charset="0"/>
            </a:endParaRPr>
          </a:p>
        </p:txBody>
      </p:sp>
      <p:pic>
        <p:nvPicPr>
          <p:cNvPr id="13" name="Picture 12">
            <a:extLst>
              <a:ext uri="{FF2B5EF4-FFF2-40B4-BE49-F238E27FC236}">
                <a16:creationId xmlns:a16="http://schemas.microsoft.com/office/drawing/2014/main" id="{8ECD18D2-488B-7247-539B-68203C47628A}"/>
              </a:ext>
            </a:extLst>
          </p:cNvPr>
          <p:cNvPicPr>
            <a:picLocks noChangeAspect="1"/>
          </p:cNvPicPr>
          <p:nvPr/>
        </p:nvPicPr>
        <p:blipFill>
          <a:blip r:embed="rId4"/>
          <a:stretch>
            <a:fillRect/>
          </a:stretch>
        </p:blipFill>
        <p:spPr>
          <a:xfrm>
            <a:off x="9102992" y="96291"/>
            <a:ext cx="2793733" cy="751467"/>
          </a:xfrm>
          <a:prstGeom prst="rect">
            <a:avLst/>
          </a:prstGeom>
        </p:spPr>
      </p:pic>
      <p:pic>
        <p:nvPicPr>
          <p:cNvPr id="7" name="Picture 6">
            <a:extLst>
              <a:ext uri="{FF2B5EF4-FFF2-40B4-BE49-F238E27FC236}">
                <a16:creationId xmlns:a16="http://schemas.microsoft.com/office/drawing/2014/main" id="{95CB96F6-3485-E736-5AC4-3B1BB5EF3128}"/>
              </a:ext>
            </a:extLst>
          </p:cNvPr>
          <p:cNvPicPr>
            <a:picLocks noChangeAspect="1"/>
          </p:cNvPicPr>
          <p:nvPr/>
        </p:nvPicPr>
        <p:blipFill>
          <a:blip r:embed="rId5"/>
          <a:stretch>
            <a:fillRect/>
          </a:stretch>
        </p:blipFill>
        <p:spPr>
          <a:xfrm>
            <a:off x="7903028" y="1735135"/>
            <a:ext cx="4157433" cy="3098122"/>
          </a:xfrm>
          <a:prstGeom prst="rect">
            <a:avLst/>
          </a:prstGeom>
        </p:spPr>
      </p:pic>
    </p:spTree>
    <p:extLst>
      <p:ext uri="{BB962C8B-B14F-4D97-AF65-F5344CB8AC3E}">
        <p14:creationId xmlns:p14="http://schemas.microsoft.com/office/powerpoint/2010/main" val="64470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42215"/>
            <a:ext cx="12192000" cy="6858000"/>
          </a:xfrm>
          <a:prstGeom prst="rect">
            <a:avLst/>
          </a:prstGeom>
        </p:spPr>
      </p:pic>
      <p:pic>
        <p:nvPicPr>
          <p:cNvPr id="3" name="Picture 2" descr="image.png"/>
          <p:cNvPicPr>
            <a:picLocks noChangeAspect="1"/>
          </p:cNvPicPr>
          <p:nvPr/>
        </p:nvPicPr>
        <p:blipFill>
          <a:blip r:embed="rId4"/>
          <a:stretch>
            <a:fillRect/>
          </a:stretch>
        </p:blipFill>
        <p:spPr>
          <a:xfrm>
            <a:off x="571500" y="2312193"/>
            <a:ext cx="11049000" cy="3090862"/>
          </a:xfrm>
          <a:prstGeom prst="rect">
            <a:avLst/>
          </a:prstGeom>
        </p:spPr>
      </p:pic>
      <p:sp>
        <p:nvSpPr>
          <p:cNvPr id="5" name="Rectangle 4"/>
          <p:cNvSpPr/>
          <p:nvPr/>
        </p:nvSpPr>
        <p:spPr>
          <a:xfrm>
            <a:off x="581025" y="4093368"/>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86955" y="4093368"/>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92885" y="4093368"/>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98816" y="4093368"/>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404746" y="4093368"/>
            <a:ext cx="220622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1025" y="5379243"/>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786955" y="5379243"/>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992885" y="5379243"/>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198816" y="5379243"/>
            <a:ext cx="220593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404746" y="5379243"/>
            <a:ext cx="2206228"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5300" y="386093"/>
            <a:ext cx="11401425" cy="492443"/>
          </a:xfrm>
          <a:prstGeom prst="rect">
            <a:avLst/>
          </a:prstGeom>
          <a:noFill/>
        </p:spPr>
        <p:txBody>
          <a:bodyPr wrap="square" lIns="0" tIns="0" rIns="0" bIns="0" anchor="t">
            <a:spAutoFit/>
          </a:bodyPr>
          <a:lstStyle/>
          <a:p>
            <a:r>
              <a:rPr lang="en-IN" sz="3200" dirty="0">
                <a:latin typeface="Britannic Bold" panose="020B0903060703020204" pitchFamily="34" charset="0"/>
              </a:rPr>
              <a:t>LITERATURE SURVEY (2022-2026)</a:t>
            </a:r>
          </a:p>
        </p:txBody>
      </p:sp>
      <p:pic>
        <p:nvPicPr>
          <p:cNvPr id="20" name="Picture 19">
            <a:extLst>
              <a:ext uri="{FF2B5EF4-FFF2-40B4-BE49-F238E27FC236}">
                <a16:creationId xmlns:a16="http://schemas.microsoft.com/office/drawing/2014/main" id="{EBF83DA5-07ED-DDFD-D5DC-424AAC7DFAE2}"/>
              </a:ext>
            </a:extLst>
          </p:cNvPr>
          <p:cNvPicPr>
            <a:picLocks noChangeAspect="1"/>
          </p:cNvPicPr>
          <p:nvPr/>
        </p:nvPicPr>
        <p:blipFill>
          <a:blip r:embed="rId5"/>
          <a:stretch>
            <a:fillRect/>
          </a:stretch>
        </p:blipFill>
        <p:spPr>
          <a:xfrm>
            <a:off x="9102992" y="96291"/>
            <a:ext cx="2793733" cy="751467"/>
          </a:xfrm>
          <a:prstGeom prst="rect">
            <a:avLst/>
          </a:prstGeom>
        </p:spPr>
      </p:pic>
      <p:graphicFrame>
        <p:nvGraphicFramePr>
          <p:cNvPr id="18" name="Table 17">
            <a:extLst>
              <a:ext uri="{FF2B5EF4-FFF2-40B4-BE49-F238E27FC236}">
                <a16:creationId xmlns:a16="http://schemas.microsoft.com/office/drawing/2014/main" id="{72D6BB3F-0F09-E0C6-ED3C-FF01C04B61D7}"/>
              </a:ext>
            </a:extLst>
          </p:cNvPr>
          <p:cNvGraphicFramePr>
            <a:graphicFrameLocks noGrp="1"/>
          </p:cNvGraphicFramePr>
          <p:nvPr>
            <p:extLst>
              <p:ext uri="{D42A27DB-BD31-4B8C-83A1-F6EECF244321}">
                <p14:modId xmlns:p14="http://schemas.microsoft.com/office/powerpoint/2010/main" val="2316628447"/>
              </p:ext>
            </p:extLst>
          </p:nvPr>
        </p:nvGraphicFramePr>
        <p:xfrm>
          <a:off x="217714" y="901834"/>
          <a:ext cx="11679011" cy="5859877"/>
        </p:xfrm>
        <a:graphic>
          <a:graphicData uri="http://schemas.openxmlformats.org/drawingml/2006/table">
            <a:tbl>
              <a:tblPr firstRow="1" bandRow="1">
                <a:tableStyleId>{5C22544A-7EE6-4342-B048-85BDC9FD1C3A}</a:tableStyleId>
              </a:tblPr>
              <a:tblGrid>
                <a:gridCol w="697395">
                  <a:extLst>
                    <a:ext uri="{9D8B030D-6E8A-4147-A177-3AD203B41FA5}">
                      <a16:colId xmlns:a16="http://schemas.microsoft.com/office/drawing/2014/main" val="3472022902"/>
                    </a:ext>
                  </a:extLst>
                </a:gridCol>
                <a:gridCol w="1241969">
                  <a:extLst>
                    <a:ext uri="{9D8B030D-6E8A-4147-A177-3AD203B41FA5}">
                      <a16:colId xmlns:a16="http://schemas.microsoft.com/office/drawing/2014/main" val="425492866"/>
                    </a:ext>
                  </a:extLst>
                </a:gridCol>
                <a:gridCol w="1154812">
                  <a:extLst>
                    <a:ext uri="{9D8B030D-6E8A-4147-A177-3AD203B41FA5}">
                      <a16:colId xmlns:a16="http://schemas.microsoft.com/office/drawing/2014/main" val="2986807612"/>
                    </a:ext>
                  </a:extLst>
                </a:gridCol>
                <a:gridCol w="3017766">
                  <a:extLst>
                    <a:ext uri="{9D8B030D-6E8A-4147-A177-3AD203B41FA5}">
                      <a16:colId xmlns:a16="http://schemas.microsoft.com/office/drawing/2014/main" val="584154428"/>
                    </a:ext>
                  </a:extLst>
                </a:gridCol>
                <a:gridCol w="2933432">
                  <a:extLst>
                    <a:ext uri="{9D8B030D-6E8A-4147-A177-3AD203B41FA5}">
                      <a16:colId xmlns:a16="http://schemas.microsoft.com/office/drawing/2014/main" val="1724015588"/>
                    </a:ext>
                  </a:extLst>
                </a:gridCol>
                <a:gridCol w="2633637">
                  <a:extLst>
                    <a:ext uri="{9D8B030D-6E8A-4147-A177-3AD203B41FA5}">
                      <a16:colId xmlns:a16="http://schemas.microsoft.com/office/drawing/2014/main" val="2717760238"/>
                    </a:ext>
                  </a:extLst>
                </a:gridCol>
              </a:tblGrid>
              <a:tr h="755172">
                <a:tc>
                  <a:txBody>
                    <a:bodyPr/>
                    <a:lstStyle/>
                    <a:p>
                      <a:pPr>
                        <a:buNone/>
                      </a:pPr>
                      <a:r>
                        <a:rPr lang="en-IN">
                          <a:latin typeface="Times New Roman" panose="02020603050405020304" pitchFamily="18" charset="0"/>
                          <a:cs typeface="Times New Roman" panose="02020603050405020304" pitchFamily="18" charset="0"/>
                        </a:rPr>
                        <a:t>S.No</a:t>
                      </a:r>
                    </a:p>
                  </a:txBody>
                  <a:tcPr anchor="ctr"/>
                </a:tc>
                <a:tc>
                  <a:txBody>
                    <a:bodyPr/>
                    <a:lstStyle/>
                    <a:p>
                      <a:pPr>
                        <a:buNone/>
                      </a:pPr>
                      <a:r>
                        <a:rPr lang="en-IN">
                          <a:latin typeface="Times New Roman" panose="02020603050405020304" pitchFamily="18" charset="0"/>
                          <a:cs typeface="Times New Roman" panose="02020603050405020304" pitchFamily="18" charset="0"/>
                        </a:rPr>
                        <a:t>Author Name</a:t>
                      </a:r>
                    </a:p>
                  </a:txBody>
                  <a:tcPr anchor="ctr"/>
                </a:tc>
                <a:tc>
                  <a:txBody>
                    <a:bodyPr/>
                    <a:lstStyle/>
                    <a:p>
                      <a:pPr algn="r">
                        <a:buNone/>
                      </a:pPr>
                      <a:r>
                        <a:rPr lang="en-IN">
                          <a:latin typeface="Times New Roman" panose="02020603050405020304" pitchFamily="18" charset="0"/>
                          <a:cs typeface="Times New Roman" panose="02020603050405020304" pitchFamily="18" charset="0"/>
                        </a:rPr>
                        <a:t>Year</a:t>
                      </a:r>
                    </a:p>
                  </a:txBody>
                  <a:tcPr anchor="ctr"/>
                </a:tc>
                <a:tc>
                  <a:txBody>
                    <a:bodyPr/>
                    <a:lstStyle/>
                    <a:p>
                      <a:pPr>
                        <a:buNone/>
                      </a:pPr>
                      <a:r>
                        <a:rPr lang="en-IN">
                          <a:latin typeface="Times New Roman" panose="02020603050405020304" pitchFamily="18" charset="0"/>
                          <a:cs typeface="Times New Roman" panose="02020603050405020304" pitchFamily="18" charset="0"/>
                        </a:rPr>
                        <a:t>Method / Focus</a:t>
                      </a:r>
                    </a:p>
                  </a:txBody>
                  <a:tcPr anchor="ctr"/>
                </a:tc>
                <a:tc>
                  <a:txBody>
                    <a:bodyPr/>
                    <a:lstStyle/>
                    <a:p>
                      <a:pPr>
                        <a:buNone/>
                      </a:pPr>
                      <a:r>
                        <a:rPr lang="en-IN">
                          <a:latin typeface="Times New Roman" panose="02020603050405020304" pitchFamily="18" charset="0"/>
                          <a:cs typeface="Times New Roman" panose="02020603050405020304" pitchFamily="18" charset="0"/>
                        </a:rPr>
                        <a:t>Pros</a:t>
                      </a:r>
                    </a:p>
                  </a:txBody>
                  <a:tcPr anchor="ctr"/>
                </a:tc>
                <a:tc>
                  <a:txBody>
                    <a:bodyPr/>
                    <a:lstStyle/>
                    <a:p>
                      <a:pPr>
                        <a:buNone/>
                      </a:pPr>
                      <a:r>
                        <a:rPr lang="en-IN">
                          <a:latin typeface="Times New Roman" panose="02020603050405020304" pitchFamily="18" charset="0"/>
                          <a:cs typeface="Times New Roman" panose="02020603050405020304" pitchFamily="18" charset="0"/>
                        </a:rPr>
                        <a:t>Cons</a:t>
                      </a:r>
                    </a:p>
                  </a:txBody>
                  <a:tcPr anchor="ctr"/>
                </a:tc>
                <a:extLst>
                  <a:ext uri="{0D108BD9-81ED-4DB2-BD59-A6C34878D82A}">
                    <a16:rowId xmlns:a16="http://schemas.microsoft.com/office/drawing/2014/main" val="1232768890"/>
                  </a:ext>
                </a:extLst>
              </a:tr>
              <a:tr h="1020941">
                <a:tc>
                  <a:txBody>
                    <a:bodyPr/>
                    <a:lstStyle/>
                    <a:p>
                      <a:pPr>
                        <a:buNone/>
                      </a:pPr>
                      <a:r>
                        <a:rPr lang="en-IN">
                          <a:latin typeface="Times New Roman" panose="02020603050405020304" pitchFamily="18" charset="0"/>
                          <a:cs typeface="Times New Roman" panose="02020603050405020304" pitchFamily="18" charset="0"/>
                        </a:rPr>
                        <a:t>1</a:t>
                      </a:r>
                    </a:p>
                  </a:txBody>
                  <a:tcPr anchor="ctr"/>
                </a:tc>
                <a:tc>
                  <a:txBody>
                    <a:bodyPr/>
                    <a:lstStyle/>
                    <a:p>
                      <a:pPr>
                        <a:buNone/>
                      </a:pPr>
                      <a:r>
                        <a:rPr lang="en-IN" b="1">
                          <a:latin typeface="Times New Roman" panose="02020603050405020304" pitchFamily="18" charset="0"/>
                          <a:cs typeface="Times New Roman" panose="02020603050405020304" pitchFamily="18" charset="0"/>
                        </a:rPr>
                        <a:t>S. Kumar et al.</a:t>
                      </a:r>
                      <a:endParaRPr lang="en-IN">
                        <a:latin typeface="Times New Roman" panose="02020603050405020304" pitchFamily="18" charset="0"/>
                        <a:cs typeface="Times New Roman" panose="02020603050405020304" pitchFamily="18" charset="0"/>
                      </a:endParaRPr>
                    </a:p>
                  </a:txBody>
                  <a:tcPr anchor="ctr"/>
                </a:tc>
                <a:tc>
                  <a:txBody>
                    <a:bodyPr/>
                    <a:lstStyle/>
                    <a:p>
                      <a:pPr algn="r">
                        <a:buNone/>
                      </a:pPr>
                      <a:r>
                        <a:rPr lang="en-IN">
                          <a:latin typeface="Times New Roman" panose="02020603050405020304" pitchFamily="18" charset="0"/>
                          <a:cs typeface="Times New Roman" panose="02020603050405020304" pitchFamily="18" charset="0"/>
                        </a:rPr>
                        <a:t>2026</a:t>
                      </a:r>
                    </a:p>
                  </a:txBody>
                  <a:tcPr anchor="ctr"/>
                </a:tc>
                <a:tc>
                  <a:txBody>
                    <a:bodyPr/>
                    <a:lstStyle/>
                    <a:p>
                      <a:pPr>
                        <a:buNone/>
                      </a:pPr>
                      <a:r>
                        <a:rPr lang="en-IN">
                          <a:latin typeface="Times New Roman" panose="02020603050405020304" pitchFamily="18" charset="0"/>
                          <a:cs typeface="Times New Roman" panose="02020603050405020304" pitchFamily="18" charset="0"/>
                        </a:rPr>
                        <a:t>AI-assisted personal finance and expense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Personalized financial insights; automated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More complex implementation</a:t>
                      </a:r>
                    </a:p>
                  </a:txBody>
                  <a:tcPr anchor="ctr"/>
                </a:tc>
                <a:extLst>
                  <a:ext uri="{0D108BD9-81ED-4DB2-BD59-A6C34878D82A}">
                    <a16:rowId xmlns:a16="http://schemas.microsoft.com/office/drawing/2014/main" val="3318526027"/>
                  </a:ext>
                </a:extLst>
              </a:tr>
              <a:tr h="1020941">
                <a:tc>
                  <a:txBody>
                    <a:bodyPr/>
                    <a:lstStyle/>
                    <a:p>
                      <a:pPr>
                        <a:buNone/>
                      </a:pPr>
                      <a:r>
                        <a:rPr lang="en-IN">
                          <a:latin typeface="Times New Roman" panose="02020603050405020304" pitchFamily="18" charset="0"/>
                          <a:cs typeface="Times New Roman" panose="02020603050405020304" pitchFamily="18" charset="0"/>
                        </a:rPr>
                        <a:t>2</a:t>
                      </a:r>
                    </a:p>
                  </a:txBody>
                  <a:tcPr anchor="ctr"/>
                </a:tc>
                <a:tc>
                  <a:txBody>
                    <a:bodyPr/>
                    <a:lstStyle/>
                    <a:p>
                      <a:pPr>
                        <a:buNone/>
                      </a:pPr>
                      <a:r>
                        <a:rPr lang="en-IN" b="1">
                          <a:latin typeface="Times New Roman" panose="02020603050405020304" pitchFamily="18" charset="0"/>
                          <a:cs typeface="Times New Roman" panose="02020603050405020304" pitchFamily="18" charset="0"/>
                        </a:rPr>
                        <a:t>A. Sharma et al.</a:t>
                      </a:r>
                      <a:endParaRPr lang="en-IN">
                        <a:latin typeface="Times New Roman" panose="02020603050405020304" pitchFamily="18" charset="0"/>
                        <a:cs typeface="Times New Roman" panose="02020603050405020304" pitchFamily="18" charset="0"/>
                      </a:endParaRPr>
                    </a:p>
                  </a:txBody>
                  <a:tcPr anchor="ctr"/>
                </a:tc>
                <a:tc>
                  <a:txBody>
                    <a:bodyPr/>
                    <a:lstStyle/>
                    <a:p>
                      <a:pPr algn="r">
                        <a:buNone/>
                      </a:pPr>
                      <a:r>
                        <a:rPr lang="en-IN">
                          <a:latin typeface="Times New Roman" panose="02020603050405020304" pitchFamily="18" charset="0"/>
                          <a:cs typeface="Times New Roman" panose="02020603050405020304" pitchFamily="18" charset="0"/>
                        </a:rPr>
                        <a:t>2025</a:t>
                      </a:r>
                    </a:p>
                  </a:txBody>
                  <a:tcPr anchor="ctr"/>
                </a:tc>
                <a:tc>
                  <a:txBody>
                    <a:bodyPr/>
                    <a:lstStyle/>
                    <a:p>
                      <a:pPr>
                        <a:buNone/>
                      </a:pPr>
                      <a:r>
                        <a:rPr lang="en-IN">
                          <a:latin typeface="Times New Roman" panose="02020603050405020304" pitchFamily="18" charset="0"/>
                          <a:cs typeface="Times New Roman" panose="02020603050405020304" pitchFamily="18" charset="0"/>
                        </a:rPr>
                        <a:t>Machine-learning-based personal expense classification</a:t>
                      </a:r>
                    </a:p>
                  </a:txBody>
                  <a:tcPr anchor="ctr"/>
                </a:tc>
                <a:tc>
                  <a:txBody>
                    <a:bodyPr/>
                    <a:lstStyle/>
                    <a:p>
                      <a:pPr>
                        <a:buNone/>
                      </a:pPr>
                      <a:r>
                        <a:rPr lang="en-IN">
                          <a:latin typeface="Times New Roman" panose="02020603050405020304" pitchFamily="18" charset="0"/>
                          <a:cs typeface="Times New Roman" panose="02020603050405020304" pitchFamily="18" charset="0"/>
                        </a:rPr>
                        <a:t>Automatic categorization; improves expense analysis</a:t>
                      </a:r>
                    </a:p>
                  </a:txBody>
                  <a:tcPr anchor="ctr"/>
                </a:tc>
                <a:tc>
                  <a:txBody>
                    <a:bodyPr/>
                    <a:lstStyle/>
                    <a:p>
                      <a:pPr>
                        <a:buNone/>
                      </a:pPr>
                      <a:r>
                        <a:rPr lang="en-IN">
                          <a:latin typeface="Times New Roman" panose="02020603050405020304" pitchFamily="18" charset="0"/>
                          <a:cs typeface="Times New Roman" panose="02020603050405020304" pitchFamily="18" charset="0"/>
                        </a:rPr>
                        <a:t>Requires sufficient training data</a:t>
                      </a:r>
                    </a:p>
                  </a:txBody>
                  <a:tcPr anchor="ctr"/>
                </a:tc>
                <a:extLst>
                  <a:ext uri="{0D108BD9-81ED-4DB2-BD59-A6C34878D82A}">
                    <a16:rowId xmlns:a16="http://schemas.microsoft.com/office/drawing/2014/main" val="2334497822"/>
                  </a:ext>
                </a:extLst>
              </a:tr>
              <a:tr h="1020941">
                <a:tc>
                  <a:txBody>
                    <a:bodyPr/>
                    <a:lstStyle/>
                    <a:p>
                      <a:pPr>
                        <a:buNone/>
                      </a:pPr>
                      <a:r>
                        <a:rPr lang="en-IN">
                          <a:latin typeface="Times New Roman" panose="02020603050405020304" pitchFamily="18" charset="0"/>
                          <a:cs typeface="Times New Roman" panose="02020603050405020304" pitchFamily="18" charset="0"/>
                        </a:rPr>
                        <a:t>3</a:t>
                      </a:r>
                    </a:p>
                  </a:txBody>
                  <a:tcPr anchor="ctr"/>
                </a:tc>
                <a:tc>
                  <a:txBody>
                    <a:bodyPr/>
                    <a:lstStyle/>
                    <a:p>
                      <a:pPr>
                        <a:buNone/>
                      </a:pPr>
                      <a:r>
                        <a:rPr lang="en-IN" b="1">
                          <a:latin typeface="Times New Roman" panose="02020603050405020304" pitchFamily="18" charset="0"/>
                          <a:cs typeface="Times New Roman" panose="02020603050405020304" pitchFamily="18" charset="0"/>
                        </a:rPr>
                        <a:t>R. Patel et al.</a:t>
                      </a:r>
                      <a:endParaRPr lang="en-IN">
                        <a:latin typeface="Times New Roman" panose="02020603050405020304" pitchFamily="18" charset="0"/>
                        <a:cs typeface="Times New Roman" panose="02020603050405020304" pitchFamily="18" charset="0"/>
                      </a:endParaRPr>
                    </a:p>
                  </a:txBody>
                  <a:tcPr anchor="ctr"/>
                </a:tc>
                <a:tc>
                  <a:txBody>
                    <a:bodyPr/>
                    <a:lstStyle/>
                    <a:p>
                      <a:pPr algn="r">
                        <a:buNone/>
                      </a:pPr>
                      <a:r>
                        <a:rPr lang="en-IN">
                          <a:latin typeface="Times New Roman" panose="02020603050405020304" pitchFamily="18" charset="0"/>
                          <a:cs typeface="Times New Roman" panose="02020603050405020304" pitchFamily="18" charset="0"/>
                        </a:rPr>
                        <a:t>2024</a:t>
                      </a:r>
                    </a:p>
                  </a:txBody>
                  <a:tcPr anchor="ctr"/>
                </a:tc>
                <a:tc>
                  <a:txBody>
                    <a:bodyPr/>
                    <a:lstStyle/>
                    <a:p>
                      <a:pPr>
                        <a:buNone/>
                      </a:pPr>
                      <a:r>
                        <a:rPr lang="en-IN">
                          <a:latin typeface="Times New Roman" panose="02020603050405020304" pitchFamily="18" charset="0"/>
                          <a:cs typeface="Times New Roman" panose="02020603050405020304" pitchFamily="18" charset="0"/>
                        </a:rPr>
                        <a:t>Mobile-based personal expense tracking system</a:t>
                      </a:r>
                    </a:p>
                  </a:txBody>
                  <a:tcPr anchor="ctr"/>
                </a:tc>
                <a:tc>
                  <a:txBody>
                    <a:bodyPr/>
                    <a:lstStyle/>
                    <a:p>
                      <a:pPr>
                        <a:buNone/>
                      </a:pPr>
                      <a:r>
                        <a:rPr lang="en-IN">
                          <a:latin typeface="Times New Roman" panose="02020603050405020304" pitchFamily="18" charset="0"/>
                          <a:cs typeface="Times New Roman" panose="02020603050405020304" pitchFamily="18" charset="0"/>
                        </a:rPr>
                        <a:t>Easy access; convenient daily tracking</a:t>
                      </a:r>
                    </a:p>
                  </a:txBody>
                  <a:tcPr anchor="ctr"/>
                </a:tc>
                <a:tc>
                  <a:txBody>
                    <a:bodyPr/>
                    <a:lstStyle/>
                    <a:p>
                      <a:pPr>
                        <a:buNone/>
                      </a:pPr>
                      <a:r>
                        <a:rPr lang="en-IN">
                          <a:latin typeface="Times New Roman" panose="02020603050405020304" pitchFamily="18" charset="0"/>
                          <a:cs typeface="Times New Roman" panose="02020603050405020304" pitchFamily="18" charset="0"/>
                        </a:rPr>
                        <a:t>Limited advanced visualization</a:t>
                      </a:r>
                    </a:p>
                  </a:txBody>
                  <a:tcPr anchor="ctr"/>
                </a:tc>
                <a:extLst>
                  <a:ext uri="{0D108BD9-81ED-4DB2-BD59-A6C34878D82A}">
                    <a16:rowId xmlns:a16="http://schemas.microsoft.com/office/drawing/2014/main" val="312973857"/>
                  </a:ext>
                </a:extLst>
              </a:tr>
              <a:tr h="1020941">
                <a:tc>
                  <a:txBody>
                    <a:bodyPr/>
                    <a:lstStyle/>
                    <a:p>
                      <a:pPr>
                        <a:buNone/>
                      </a:pPr>
                      <a:r>
                        <a:rPr lang="en-IN">
                          <a:latin typeface="Times New Roman" panose="02020603050405020304" pitchFamily="18" charset="0"/>
                          <a:cs typeface="Times New Roman" panose="02020603050405020304" pitchFamily="18" charset="0"/>
                        </a:rPr>
                        <a:t>4</a:t>
                      </a:r>
                    </a:p>
                  </a:txBody>
                  <a:tcPr anchor="ctr"/>
                </a:tc>
                <a:tc>
                  <a:txBody>
                    <a:bodyPr/>
                    <a:lstStyle/>
                    <a:p>
                      <a:pPr>
                        <a:buNone/>
                      </a:pPr>
                      <a:r>
                        <a:rPr lang="en-IN" b="1">
                          <a:latin typeface="Times New Roman" panose="02020603050405020304" pitchFamily="18" charset="0"/>
                          <a:cs typeface="Times New Roman" panose="02020603050405020304" pitchFamily="18" charset="0"/>
                        </a:rPr>
                        <a:t>M. Singh et al.</a:t>
                      </a:r>
                      <a:endParaRPr lang="en-IN">
                        <a:latin typeface="Times New Roman" panose="02020603050405020304" pitchFamily="18" charset="0"/>
                        <a:cs typeface="Times New Roman" panose="02020603050405020304" pitchFamily="18" charset="0"/>
                      </a:endParaRPr>
                    </a:p>
                  </a:txBody>
                  <a:tcPr anchor="ctr"/>
                </a:tc>
                <a:tc>
                  <a:txBody>
                    <a:bodyPr/>
                    <a:lstStyle/>
                    <a:p>
                      <a:pPr algn="r">
                        <a:buNone/>
                      </a:pPr>
                      <a:r>
                        <a:rPr lang="en-IN">
                          <a:latin typeface="Times New Roman" panose="02020603050405020304" pitchFamily="18" charset="0"/>
                          <a:cs typeface="Times New Roman" panose="02020603050405020304" pitchFamily="18" charset="0"/>
                        </a:rPr>
                        <a:t>2023</a:t>
                      </a:r>
                    </a:p>
                  </a:txBody>
                  <a:tcPr anchor="ctr"/>
                </a:tc>
                <a:tc>
                  <a:txBody>
                    <a:bodyPr/>
                    <a:lstStyle/>
                    <a:p>
                      <a:pPr>
                        <a:buNone/>
                      </a:pPr>
                      <a:r>
                        <a:rPr lang="en-IN">
                          <a:latin typeface="Times New Roman" panose="02020603050405020304" pitchFamily="18" charset="0"/>
                          <a:cs typeface="Times New Roman" panose="02020603050405020304" pitchFamily="18" charset="0"/>
                        </a:rPr>
                        <a:t>Web-based budget and expense management</a:t>
                      </a:r>
                    </a:p>
                  </a:txBody>
                  <a:tcPr anchor="ctr"/>
                </a:tc>
                <a:tc>
                  <a:txBody>
                    <a:bodyPr/>
                    <a:lstStyle/>
                    <a:p>
                      <a:pPr>
                        <a:buNone/>
                      </a:pPr>
                      <a:r>
                        <a:rPr lang="en-IN">
                          <a:latin typeface="Times New Roman" panose="02020603050405020304" pitchFamily="18" charset="0"/>
                          <a:cs typeface="Times New Roman" panose="02020603050405020304" pitchFamily="18" charset="0"/>
                        </a:rPr>
                        <a:t>Centralized records; budget monitoring</a:t>
                      </a:r>
                    </a:p>
                  </a:txBody>
                  <a:tcPr anchor="ctr"/>
                </a:tc>
                <a:tc>
                  <a:txBody>
                    <a:bodyPr/>
                    <a:lstStyle/>
                    <a:p>
                      <a:pPr>
                        <a:buNone/>
                      </a:pPr>
                      <a:r>
                        <a:rPr lang="en-IN">
                          <a:latin typeface="Times New Roman" panose="02020603050405020304" pitchFamily="18" charset="0"/>
                          <a:cs typeface="Times New Roman" panose="02020603050405020304" pitchFamily="18" charset="0"/>
                        </a:rPr>
                        <a:t>Requires web infrastructure</a:t>
                      </a:r>
                    </a:p>
                  </a:txBody>
                  <a:tcPr anchor="ctr"/>
                </a:tc>
                <a:extLst>
                  <a:ext uri="{0D108BD9-81ED-4DB2-BD59-A6C34878D82A}">
                    <a16:rowId xmlns:a16="http://schemas.microsoft.com/office/drawing/2014/main" val="1505168974"/>
                  </a:ext>
                </a:extLst>
              </a:tr>
              <a:tr h="1020941">
                <a:tc>
                  <a:txBody>
                    <a:bodyPr/>
                    <a:lstStyle/>
                    <a:p>
                      <a:pPr>
                        <a:buNone/>
                      </a:pPr>
                      <a:r>
                        <a:rPr lang="en-IN">
                          <a:latin typeface="Times New Roman" panose="02020603050405020304" pitchFamily="18" charset="0"/>
                          <a:cs typeface="Times New Roman" panose="02020603050405020304" pitchFamily="18" charset="0"/>
                        </a:rPr>
                        <a:t>5</a:t>
                      </a:r>
                    </a:p>
                  </a:txBody>
                  <a:tcPr anchor="ctr"/>
                </a:tc>
                <a:tc>
                  <a:txBody>
                    <a:bodyPr/>
                    <a:lstStyle/>
                    <a:p>
                      <a:pPr>
                        <a:buNone/>
                      </a:pPr>
                      <a:r>
                        <a:rPr lang="en-IN" b="1">
                          <a:latin typeface="Times New Roman" panose="02020603050405020304" pitchFamily="18" charset="0"/>
                          <a:cs typeface="Times New Roman" panose="02020603050405020304" pitchFamily="18" charset="0"/>
                        </a:rPr>
                        <a:t>P. Raj and S. Devi</a:t>
                      </a:r>
                      <a:endParaRPr lang="en-IN">
                        <a:latin typeface="Times New Roman" panose="02020603050405020304" pitchFamily="18" charset="0"/>
                        <a:cs typeface="Times New Roman" panose="02020603050405020304" pitchFamily="18" charset="0"/>
                      </a:endParaRPr>
                    </a:p>
                  </a:txBody>
                  <a:tcPr anchor="ctr"/>
                </a:tc>
                <a:tc>
                  <a:txBody>
                    <a:bodyPr/>
                    <a:lstStyle/>
                    <a:p>
                      <a:pPr algn="r">
                        <a:buNone/>
                      </a:pPr>
                      <a:r>
                        <a:rPr lang="en-IN">
                          <a:latin typeface="Times New Roman" panose="02020603050405020304" pitchFamily="18" charset="0"/>
                          <a:cs typeface="Times New Roman" panose="02020603050405020304" pitchFamily="18" charset="0"/>
                        </a:rPr>
                        <a:t>2022</a:t>
                      </a:r>
                    </a:p>
                  </a:txBody>
                  <a:tcPr anchor="ctr"/>
                </a:tc>
                <a:tc>
                  <a:txBody>
                    <a:bodyPr/>
                    <a:lstStyle/>
                    <a:p>
                      <a:pPr>
                        <a:buNone/>
                      </a:pPr>
                      <a:r>
                        <a:rPr lang="en-IN">
                          <a:latin typeface="Times New Roman" panose="02020603050405020304" pitchFamily="18" charset="0"/>
                          <a:cs typeface="Times New Roman" panose="02020603050405020304" pitchFamily="18" charset="0"/>
                        </a:rPr>
                        <a:t>Digital personal finance management using databases</a:t>
                      </a:r>
                    </a:p>
                  </a:txBody>
                  <a:tcPr anchor="ctr"/>
                </a:tc>
                <a:tc>
                  <a:txBody>
                    <a:bodyPr/>
                    <a:lstStyle/>
                    <a:p>
                      <a:pPr>
                        <a:buNone/>
                      </a:pPr>
                      <a:r>
                        <a:rPr lang="en-IN">
                          <a:latin typeface="Times New Roman" panose="02020603050405020304" pitchFamily="18" charset="0"/>
                          <a:cs typeface="Times New Roman" panose="02020603050405020304" pitchFamily="18" charset="0"/>
                        </a:rPr>
                        <a:t>Organized storage; simple record management</a:t>
                      </a:r>
                    </a:p>
                  </a:txBody>
                  <a:tcPr anchor="ctr"/>
                </a:tc>
                <a:tc>
                  <a:txBody>
                    <a:bodyPr/>
                    <a:lstStyle/>
                    <a:p>
                      <a:pPr>
                        <a:buNone/>
                      </a:pPr>
                      <a:r>
                        <a:rPr lang="en-IN" dirty="0">
                          <a:latin typeface="Times New Roman" panose="02020603050405020304" pitchFamily="18" charset="0"/>
                          <a:cs typeface="Times New Roman" panose="02020603050405020304" pitchFamily="18" charset="0"/>
                        </a:rPr>
                        <a:t>Mostly focused on manual data entry</a:t>
                      </a:r>
                    </a:p>
                  </a:txBody>
                  <a:tcPr anchor="ctr"/>
                </a:tc>
                <a:extLst>
                  <a:ext uri="{0D108BD9-81ED-4DB2-BD59-A6C34878D82A}">
                    <a16:rowId xmlns:a16="http://schemas.microsoft.com/office/drawing/2014/main" val="346315762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43" y="-38632"/>
            <a:ext cx="12192000" cy="6858000"/>
          </a:xfrm>
          <a:prstGeom prst="rect">
            <a:avLst/>
          </a:prstGeom>
        </p:spPr>
      </p:pic>
      <p:pic>
        <p:nvPicPr>
          <p:cNvPr id="3" name="Picture 2" descr="image.png"/>
          <p:cNvPicPr>
            <a:picLocks noChangeAspect="1"/>
          </p:cNvPicPr>
          <p:nvPr/>
        </p:nvPicPr>
        <p:blipFill>
          <a:blip r:embed="rId4"/>
          <a:stretch>
            <a:fillRect/>
          </a:stretch>
        </p:blipFill>
        <p:spPr>
          <a:xfrm>
            <a:off x="6286500" y="1952625"/>
            <a:ext cx="5334000" cy="3810000"/>
          </a:xfrm>
          <a:prstGeom prst="rect">
            <a:avLst/>
          </a:prstGeom>
        </p:spPr>
      </p:pic>
      <p:sp>
        <p:nvSpPr>
          <p:cNvPr id="5" name="TextBox 4"/>
          <p:cNvSpPr txBox="1"/>
          <p:nvPr/>
        </p:nvSpPr>
        <p:spPr>
          <a:xfrm>
            <a:off x="455839" y="1361202"/>
            <a:ext cx="6641491" cy="4561313"/>
          </a:xfrm>
          <a:prstGeom prst="rect">
            <a:avLst/>
          </a:prstGeom>
          <a:noFill/>
        </p:spPr>
        <p:txBody>
          <a:bodyPr wrap="square" lIns="0" tIns="0" rIns="0" bIns="0" anchor="t">
            <a:spAutoFit/>
          </a:bodyPr>
          <a:lstStyle/>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Manual expense tracking can lead to data-entry errors.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Spreadsheet-based systems require continuous manual maintenance.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Advanced applications may be complicated for beginners.</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Some systems require internet connectivity.</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Complex financial applications may require additional infrastructure.</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Spending patterns may be difficult to understand without visualization.</a:t>
            </a:r>
          </a:p>
          <a:p>
            <a:pPr marL="342900" lvl="0" indent="-34290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Maintaining records manually can be time-consuming.</a:t>
            </a:r>
          </a:p>
        </p:txBody>
      </p:sp>
      <p:sp>
        <p:nvSpPr>
          <p:cNvPr id="10" name="TextBox 9"/>
          <p:cNvSpPr txBox="1"/>
          <p:nvPr/>
        </p:nvSpPr>
        <p:spPr>
          <a:xfrm>
            <a:off x="571499" y="482525"/>
            <a:ext cx="11401425" cy="492443"/>
          </a:xfrm>
          <a:prstGeom prst="rect">
            <a:avLst/>
          </a:prstGeom>
          <a:noFill/>
        </p:spPr>
        <p:txBody>
          <a:bodyPr wrap="square" lIns="0" tIns="0" rIns="0" bIns="0" anchor="t">
            <a:spAutoFit/>
          </a:bodyPr>
          <a:lstStyle/>
          <a:p>
            <a:r>
              <a:rPr lang="en-IN" sz="3200" dirty="0">
                <a:latin typeface="Britannic Bold" panose="020B0903060703020204" pitchFamily="34" charset="0"/>
              </a:rPr>
              <a:t>SUMMARY OF CONS</a:t>
            </a:r>
          </a:p>
        </p:txBody>
      </p:sp>
      <p:pic>
        <p:nvPicPr>
          <p:cNvPr id="20" name="Picture 19">
            <a:extLst>
              <a:ext uri="{FF2B5EF4-FFF2-40B4-BE49-F238E27FC236}">
                <a16:creationId xmlns:a16="http://schemas.microsoft.com/office/drawing/2014/main" id="{2AD6853E-413C-FADF-E9B0-5DE0926B4F05}"/>
              </a:ext>
            </a:extLst>
          </p:cNvPr>
          <p:cNvPicPr>
            <a:picLocks noChangeAspect="1"/>
          </p:cNvPicPr>
          <p:nvPr/>
        </p:nvPicPr>
        <p:blipFill>
          <a:blip r:embed="rId5"/>
          <a:stretch>
            <a:fillRect/>
          </a:stretch>
        </p:blipFill>
        <p:spPr>
          <a:xfrm>
            <a:off x="9102992" y="96291"/>
            <a:ext cx="2793733" cy="751467"/>
          </a:xfrm>
          <a:prstGeom prst="rect">
            <a:avLst/>
          </a:prstGeom>
        </p:spPr>
      </p:pic>
      <p:sp>
        <p:nvSpPr>
          <p:cNvPr id="4" name="AutoShape 2" descr="Smart Water Systems: Key Challen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descr="Smart Water Systems: Key Challenges"/>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98C4B684-2B36-22A3-36EC-FA78313E0984}"/>
              </a:ext>
            </a:extLst>
          </p:cNvPr>
          <p:cNvPicPr>
            <a:picLocks noChangeAspect="1"/>
          </p:cNvPicPr>
          <p:nvPr/>
        </p:nvPicPr>
        <p:blipFill>
          <a:blip r:embed="rId6"/>
          <a:stretch>
            <a:fillRect/>
          </a:stretch>
        </p:blipFill>
        <p:spPr>
          <a:xfrm>
            <a:off x="7288117" y="1659411"/>
            <a:ext cx="4838452" cy="3282704"/>
          </a:xfrm>
          <a:prstGeom prst="rect">
            <a:avLst/>
          </a:prstGeom>
        </p:spPr>
      </p:pic>
    </p:spTree>
    <p:extLst>
      <p:ext uri="{BB962C8B-B14F-4D97-AF65-F5344CB8AC3E}">
        <p14:creationId xmlns:p14="http://schemas.microsoft.com/office/powerpoint/2010/main" val="41550373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16043" y="-96291"/>
            <a:ext cx="12192000" cy="6858000"/>
          </a:xfrm>
          <a:prstGeom prst="rect">
            <a:avLst/>
          </a:prstGeom>
        </p:spPr>
      </p:pic>
      <p:pic>
        <p:nvPicPr>
          <p:cNvPr id="3" name="Picture 2" descr="image.png"/>
          <p:cNvPicPr>
            <a:picLocks noChangeAspect="1"/>
          </p:cNvPicPr>
          <p:nvPr/>
        </p:nvPicPr>
        <p:blipFill>
          <a:blip r:embed="rId4"/>
          <a:stretch>
            <a:fillRect/>
          </a:stretch>
        </p:blipFill>
        <p:spPr>
          <a:xfrm>
            <a:off x="6286500" y="1952625"/>
            <a:ext cx="5334000" cy="3810000"/>
          </a:xfrm>
          <a:prstGeom prst="rect">
            <a:avLst/>
          </a:prstGeom>
        </p:spPr>
      </p:pic>
      <p:sp>
        <p:nvSpPr>
          <p:cNvPr id="5" name="TextBox 4"/>
          <p:cNvSpPr txBox="1"/>
          <p:nvPr/>
        </p:nvSpPr>
        <p:spPr>
          <a:xfrm>
            <a:off x="571500" y="1337539"/>
            <a:ext cx="6515100" cy="5017527"/>
          </a:xfrm>
          <a:prstGeom prst="rect">
            <a:avLst/>
          </a:prstGeom>
          <a:noFill/>
        </p:spPr>
        <p:txBody>
          <a:bodyPr wrap="square" lIns="0" tIns="0" rIns="0" bIns="0" anchor="t">
            <a:spAutoFit/>
          </a:bodyPr>
          <a:lstStyle/>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Manual Tracking:</a:t>
            </a:r>
            <a:r>
              <a:rPr lang="en-IN" dirty="0">
                <a:latin typeface="Times New Roman" panose="02020603050405020304" pitchFamily="18" charset="0"/>
                <a:cs typeface="Times New Roman" panose="02020603050405020304" pitchFamily="18" charset="0"/>
              </a:rPr>
              <a:t> Users need to enter and calculate expenses manually.</a:t>
            </a: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Poor Visualization:</a:t>
            </a:r>
            <a:r>
              <a:rPr lang="en-IN" dirty="0">
                <a:latin typeface="Times New Roman" panose="02020603050405020304" pitchFamily="18" charset="0"/>
                <a:cs typeface="Times New Roman" panose="02020603050405020304" pitchFamily="18" charset="0"/>
              </a:rPr>
              <a:t> Traditional records do not clearly show spending patterns.</a:t>
            </a: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Time Consumption:</a:t>
            </a:r>
            <a:r>
              <a:rPr lang="en-IN" dirty="0">
                <a:latin typeface="Times New Roman" panose="02020603050405020304" pitchFamily="18" charset="0"/>
                <a:cs typeface="Times New Roman" panose="02020603050405020304" pitchFamily="18" charset="0"/>
              </a:rPr>
              <a:t> Preparing monthly summaries takes additional effort.</a:t>
            </a: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Data Organization:</a:t>
            </a:r>
            <a:r>
              <a:rPr lang="en-IN" dirty="0">
                <a:latin typeface="Times New Roman" panose="02020603050405020304" pitchFamily="18" charset="0"/>
                <a:cs typeface="Times New Roman" panose="02020603050405020304" pitchFamily="18" charset="0"/>
              </a:rPr>
              <a:t> Finding a particular expense can be difficult.</a:t>
            </a: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Calculation Errors:</a:t>
            </a:r>
            <a:r>
              <a:rPr lang="en-IN" dirty="0">
                <a:latin typeface="Times New Roman" panose="02020603050405020304" pitchFamily="18" charset="0"/>
                <a:cs typeface="Times New Roman" panose="02020603050405020304" pitchFamily="18" charset="0"/>
              </a:rPr>
              <a:t> Manual calculations may result in incorrect totals.</a:t>
            </a:r>
          </a:p>
          <a:p>
            <a:pPr marL="342900" lvl="0" indent="-342900">
              <a:lnSpc>
                <a:spcPct val="150000"/>
              </a:lnSpc>
              <a:buFont typeface="+mj-lt"/>
              <a:buAutoNum type="arabicPeriod"/>
            </a:pPr>
            <a:r>
              <a:rPr lang="en-IN" b="1" dirty="0">
                <a:latin typeface="Times New Roman" panose="02020603050405020304" pitchFamily="18" charset="0"/>
                <a:cs typeface="Times New Roman" panose="02020603050405020304" pitchFamily="18" charset="0"/>
              </a:rPr>
              <a:t>Limited Analysis:</a:t>
            </a:r>
            <a:r>
              <a:rPr lang="en-IN" dirty="0">
                <a:latin typeface="Times New Roman" panose="02020603050405020304" pitchFamily="18" charset="0"/>
                <a:cs typeface="Times New Roman" panose="02020603050405020304" pitchFamily="18" charset="0"/>
              </a:rPr>
              <a:t> Users may not easily identify their major spending categories.</a:t>
            </a:r>
          </a:p>
          <a:p>
            <a:pPr lvl="0" algn="just">
              <a:lnSpc>
                <a:spcPct val="150000"/>
              </a:lnSpc>
            </a:pPr>
            <a:endParaRPr lang="en-IN" sz="2200" dirty="0">
              <a:latin typeface="Times New Roman" panose="02020603050405020304" pitchFamily="18" charset="0"/>
              <a:cs typeface="Times New Roman" panose="02020603050405020304" pitchFamily="18" charset="0"/>
            </a:endParaRPr>
          </a:p>
        </p:txBody>
      </p:sp>
      <p:sp>
        <p:nvSpPr>
          <p:cNvPr id="10" name="TextBox 9"/>
          <p:cNvSpPr txBox="1"/>
          <p:nvPr/>
        </p:nvSpPr>
        <p:spPr>
          <a:xfrm>
            <a:off x="652462" y="461098"/>
            <a:ext cx="11401425" cy="492443"/>
          </a:xfrm>
          <a:prstGeom prst="rect">
            <a:avLst/>
          </a:prstGeom>
          <a:noFill/>
        </p:spPr>
        <p:txBody>
          <a:bodyPr wrap="square" lIns="0" tIns="0" rIns="0" bIns="0" anchor="t">
            <a:spAutoFit/>
          </a:bodyPr>
          <a:lstStyle/>
          <a:p>
            <a:pPr algn="l"/>
            <a:r>
              <a:rPr lang="en-IN" sz="3200" dirty="0">
                <a:latin typeface="Britannic Bold" panose="020B0903060703020204" pitchFamily="34" charset="0"/>
              </a:rPr>
              <a:t>ISSUES IN THE EXISTING MODEL</a:t>
            </a:r>
          </a:p>
        </p:txBody>
      </p:sp>
      <p:pic>
        <p:nvPicPr>
          <p:cNvPr id="20" name="Picture 19">
            <a:extLst>
              <a:ext uri="{FF2B5EF4-FFF2-40B4-BE49-F238E27FC236}">
                <a16:creationId xmlns:a16="http://schemas.microsoft.com/office/drawing/2014/main" id="{2AD6853E-413C-FADF-E9B0-5DE0926B4F05}"/>
              </a:ext>
            </a:extLst>
          </p:cNvPr>
          <p:cNvPicPr>
            <a:picLocks noChangeAspect="1"/>
          </p:cNvPicPr>
          <p:nvPr/>
        </p:nvPicPr>
        <p:blipFill>
          <a:blip r:embed="rId5"/>
          <a:stretch>
            <a:fillRect/>
          </a:stretch>
        </p:blipFill>
        <p:spPr>
          <a:xfrm>
            <a:off x="9102992" y="96291"/>
            <a:ext cx="2793733" cy="751467"/>
          </a:xfrm>
          <a:prstGeom prst="rect">
            <a:avLst/>
          </a:prstGeom>
        </p:spPr>
      </p:pic>
      <p:pic>
        <p:nvPicPr>
          <p:cNvPr id="7" name="Picture 6">
            <a:extLst>
              <a:ext uri="{FF2B5EF4-FFF2-40B4-BE49-F238E27FC236}">
                <a16:creationId xmlns:a16="http://schemas.microsoft.com/office/drawing/2014/main" id="{2CE5792D-0ABB-5440-1A45-01F3FFF11635}"/>
              </a:ext>
            </a:extLst>
          </p:cNvPr>
          <p:cNvPicPr>
            <a:picLocks noChangeAspect="1"/>
          </p:cNvPicPr>
          <p:nvPr/>
        </p:nvPicPr>
        <p:blipFill>
          <a:blip r:embed="rId6"/>
          <a:stretch>
            <a:fillRect/>
          </a:stretch>
        </p:blipFill>
        <p:spPr>
          <a:xfrm>
            <a:off x="6970037" y="2133599"/>
            <a:ext cx="5083849" cy="27730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Box 2"/>
          <p:cNvSpPr txBox="1"/>
          <p:nvPr/>
        </p:nvSpPr>
        <p:spPr>
          <a:xfrm>
            <a:off x="670932" y="616925"/>
            <a:ext cx="5000625" cy="492443"/>
          </a:xfrm>
          <a:prstGeom prst="rect">
            <a:avLst/>
          </a:prstGeom>
          <a:noFill/>
        </p:spPr>
        <p:txBody>
          <a:bodyPr wrap="square" lIns="0" tIns="0" rIns="0" bIns="0" anchor="t">
            <a:spAutoFit/>
          </a:bodyPr>
          <a:lstStyle/>
          <a:p>
            <a:pPr algn="l"/>
            <a:r>
              <a:rPr lang="en-US" sz="3200" dirty="0">
                <a:latin typeface="Britannic Bold" panose="020B0903060703020204" pitchFamily="34" charset="0"/>
              </a:rPr>
              <a:t>PROPOSED SOLUTION</a:t>
            </a:r>
          </a:p>
        </p:txBody>
      </p:sp>
      <p:sp>
        <p:nvSpPr>
          <p:cNvPr id="5" name="TextBox 4"/>
          <p:cNvSpPr txBox="1"/>
          <p:nvPr/>
        </p:nvSpPr>
        <p:spPr>
          <a:xfrm>
            <a:off x="670932" y="1578429"/>
            <a:ext cx="6687811" cy="4561313"/>
          </a:xfrm>
          <a:prstGeom prst="rect">
            <a:avLst/>
          </a:prstGeom>
          <a:noFill/>
        </p:spPr>
        <p:txBody>
          <a:bodyPr wrap="square" lIns="0" tIns="0" rIns="0" bIns="0" anchor="t">
            <a:spAutoFit/>
          </a:bodyPr>
          <a:lstStyle/>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Develop a </a:t>
            </a:r>
            <a:r>
              <a:rPr lang="en-IN" sz="2000" b="1" dirty="0">
                <a:latin typeface="Times New Roman" panose="02020603050405020304" pitchFamily="18" charset="0"/>
                <a:cs typeface="Times New Roman" panose="02020603050405020304" pitchFamily="18" charset="0"/>
              </a:rPr>
              <a:t>Python-based expense tracking application</a:t>
            </a:r>
            <a:r>
              <a:rPr lang="en-IN" sz="2000" dirty="0">
                <a:latin typeface="Times New Roman" panose="02020603050405020304" pitchFamily="18" charset="0"/>
                <a:cs typeface="Times New Roman" panose="02020603050405020304" pitchFamily="18" charset="0"/>
              </a:rPr>
              <a:t>.</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Store financial records using </a:t>
            </a:r>
            <a:r>
              <a:rPr lang="en-IN" sz="2000" b="1" dirty="0">
                <a:latin typeface="Times New Roman" panose="02020603050405020304" pitchFamily="18" charset="0"/>
                <a:cs typeface="Times New Roman" panose="02020603050405020304" pitchFamily="18" charset="0"/>
              </a:rPr>
              <a:t>SQLite database</a:t>
            </a:r>
            <a:r>
              <a:rPr lang="en-IN" sz="2000" dirty="0">
                <a:latin typeface="Times New Roman" panose="02020603050405020304" pitchFamily="18" charset="0"/>
                <a:cs typeface="Times New Roman" panose="02020603050405020304" pitchFamily="18" charset="0"/>
              </a:rPr>
              <a:t>.</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Provide an easy-to-use </a:t>
            </a:r>
            <a:r>
              <a:rPr lang="en-IN" sz="2000" b="1" dirty="0">
                <a:latin typeface="Times New Roman" panose="02020603050405020304" pitchFamily="18" charset="0"/>
                <a:cs typeface="Times New Roman" panose="02020603050405020304" pitchFamily="18" charset="0"/>
              </a:rPr>
              <a:t>Tkinter GUI</a:t>
            </a:r>
            <a:r>
              <a:rPr lang="en-IN" sz="2000" dirty="0">
                <a:latin typeface="Times New Roman" panose="02020603050405020304" pitchFamily="18" charset="0"/>
                <a:cs typeface="Times New Roman" panose="02020603050405020304" pitchFamily="18" charset="0"/>
              </a:rPr>
              <a:t>.</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Allow users to add and manage income and expenses.</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Categorize expenses for better organization.</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Generate </a:t>
            </a:r>
            <a:r>
              <a:rPr lang="en-IN" sz="2000" b="1" dirty="0">
                <a:latin typeface="Times New Roman" panose="02020603050405020304" pitchFamily="18" charset="0"/>
                <a:cs typeface="Times New Roman" panose="02020603050405020304" pitchFamily="18" charset="0"/>
              </a:rPr>
              <a:t>pie charts and bar graphs</a:t>
            </a:r>
            <a:r>
              <a:rPr lang="en-IN" sz="2000" dirty="0">
                <a:latin typeface="Times New Roman" panose="02020603050405020304" pitchFamily="18" charset="0"/>
                <a:cs typeface="Times New Roman" panose="02020603050405020304" pitchFamily="18" charset="0"/>
              </a:rPr>
              <a:t> for analysis.</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Provide search and filtering facilities.</a:t>
            </a:r>
          </a:p>
          <a:p>
            <a:pPr marL="342900" lvl="0" indent="-3429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Generate financial summaries to understand income, expenses, and balance.</a:t>
            </a:r>
          </a:p>
          <a:p>
            <a:pPr marL="342900" lvl="0" indent="-342900" algn="just">
              <a:lnSpc>
                <a:spcPct val="150000"/>
              </a:lnSpc>
              <a:buFont typeface="+mj-lt"/>
              <a:buAutoNum type="arabicPeriod"/>
            </a:pPr>
            <a:endParaRPr lang="en-IN" sz="2000"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8A2C42E6-3109-3456-A565-F6DE8399E3D3}"/>
              </a:ext>
            </a:extLst>
          </p:cNvPr>
          <p:cNvPicPr>
            <a:picLocks noChangeAspect="1"/>
          </p:cNvPicPr>
          <p:nvPr/>
        </p:nvPicPr>
        <p:blipFill>
          <a:blip r:embed="rId3"/>
          <a:stretch>
            <a:fillRect/>
          </a:stretch>
        </p:blipFill>
        <p:spPr>
          <a:xfrm>
            <a:off x="9102992" y="96291"/>
            <a:ext cx="2793733" cy="751467"/>
          </a:xfrm>
          <a:prstGeom prst="rect">
            <a:avLst/>
          </a:prstGeom>
        </p:spPr>
      </p:pic>
      <p:pic>
        <p:nvPicPr>
          <p:cNvPr id="6" name="Picture 5">
            <a:extLst>
              <a:ext uri="{FF2B5EF4-FFF2-40B4-BE49-F238E27FC236}">
                <a16:creationId xmlns:a16="http://schemas.microsoft.com/office/drawing/2014/main" id="{BB5185BB-5CF7-1778-306E-0753611A4A53}"/>
              </a:ext>
            </a:extLst>
          </p:cNvPr>
          <p:cNvPicPr>
            <a:picLocks noChangeAspect="1"/>
          </p:cNvPicPr>
          <p:nvPr/>
        </p:nvPicPr>
        <p:blipFill>
          <a:blip r:embed="rId4"/>
          <a:srcRect l="27552" t="-8020" r="21365" b="-1"/>
          <a:stretch>
            <a:fillRect/>
          </a:stretch>
        </p:blipFill>
        <p:spPr>
          <a:xfrm>
            <a:off x="8479970" y="1445609"/>
            <a:ext cx="3320144" cy="396678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E53B0DB-7FD0-1F99-F54F-1541725DA0D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A431525-E159-0390-88DF-219FA7C39F4C}"/>
              </a:ext>
            </a:extLst>
          </p:cNvPr>
          <p:cNvSpPr txBox="1"/>
          <p:nvPr/>
        </p:nvSpPr>
        <p:spPr>
          <a:xfrm>
            <a:off x="857249" y="785121"/>
            <a:ext cx="5000625" cy="492443"/>
          </a:xfrm>
          <a:prstGeom prst="rect">
            <a:avLst/>
          </a:prstGeom>
          <a:noFill/>
        </p:spPr>
        <p:txBody>
          <a:bodyPr wrap="square" lIns="0" tIns="0" rIns="0" bIns="0" anchor="t">
            <a:spAutoFit/>
          </a:bodyPr>
          <a:lstStyle/>
          <a:p>
            <a:r>
              <a:rPr lang="en-US" sz="3200" dirty="0">
                <a:latin typeface="Britannic Bold" panose="020B0903060703020204" pitchFamily="34" charset="0"/>
              </a:rPr>
              <a:t>AIM OF THE PROJECT</a:t>
            </a:r>
            <a:endParaRPr sz="3200" dirty="0">
              <a:latin typeface="Britannic Bold" panose="020B0903060703020204" pitchFamily="34" charset="0"/>
            </a:endParaRPr>
          </a:p>
        </p:txBody>
      </p:sp>
      <p:sp>
        <p:nvSpPr>
          <p:cNvPr id="5" name="TextBox 4">
            <a:extLst>
              <a:ext uri="{FF2B5EF4-FFF2-40B4-BE49-F238E27FC236}">
                <a16:creationId xmlns:a16="http://schemas.microsoft.com/office/drawing/2014/main" id="{2D715D6F-AD2C-6840-30F0-892C3B52D7F1}"/>
              </a:ext>
            </a:extLst>
          </p:cNvPr>
          <p:cNvSpPr txBox="1"/>
          <p:nvPr/>
        </p:nvSpPr>
        <p:spPr>
          <a:xfrm>
            <a:off x="428625" y="1523319"/>
            <a:ext cx="7169604" cy="4857548"/>
          </a:xfrm>
          <a:prstGeom prst="rect">
            <a:avLst/>
          </a:prstGeom>
          <a:noFill/>
        </p:spPr>
        <p:txBody>
          <a:bodyPr wrap="square" lIns="0" tIns="0" rIns="0" bIns="0" anchor="t">
            <a:sp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primary aim of the </a:t>
            </a:r>
            <a:r>
              <a:rPr lang="en-IN" sz="2000" b="1" dirty="0">
                <a:latin typeface="Times New Roman" panose="02020603050405020304" pitchFamily="18" charset="0"/>
                <a:cs typeface="Times New Roman" panose="02020603050405020304" pitchFamily="18" charset="0"/>
              </a:rPr>
              <a:t>Personal Expense Tracker with Data Visualization</a:t>
            </a:r>
            <a:r>
              <a:rPr lang="en-IN" sz="2000" dirty="0">
                <a:latin typeface="Times New Roman" panose="02020603050405020304" pitchFamily="18" charset="0"/>
                <a:cs typeface="Times New Roman" panose="02020603050405020304" pitchFamily="18" charset="0"/>
              </a:rPr>
              <a:t> is to provide a simple and efficient system for recording, organizing, and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personal financial transactions.</a:t>
            </a:r>
          </a:p>
          <a:p>
            <a:pPr algn="just">
              <a:lnSpc>
                <a:spcPct val="150000"/>
              </a:lnSpc>
            </a:pPr>
            <a:r>
              <a:rPr lang="en-IN" sz="2000" dirty="0">
                <a:latin typeface="Times New Roman" panose="02020603050405020304" pitchFamily="18" charset="0"/>
                <a:cs typeface="Times New Roman" panose="02020603050405020304" pitchFamily="18" charset="0"/>
              </a:rPr>
              <a:t>The project aims to:</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Track daily income and expenses.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Categorize spending.</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Reduce manual calculation.</a:t>
            </a:r>
          </a:p>
          <a:p>
            <a:pPr marL="285750" lvl="0" indent="-285750" algn="just">
              <a:lnSpc>
                <a:spcPct val="150000"/>
              </a:lnSpc>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spending patterns.</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Display financial information visually.</a:t>
            </a:r>
          </a:p>
          <a:p>
            <a:pPr marL="285750" lvl="0" indent="-285750" algn="just">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Help users make better budgeting decisions.</a:t>
            </a:r>
          </a:p>
          <a:p>
            <a:pPr marL="342900" indent="-342900" algn="l">
              <a:lnSpc>
                <a:spcPts val="2137"/>
              </a:lnSpc>
              <a:buFont typeface="+mj-lt"/>
              <a:buAutoNum type="arabicPeriod"/>
            </a:pPr>
            <a:endParaRPr sz="1425" b="0" i="0" u="none" dirty="0">
              <a:solidFill>
                <a:srgbClr val="334155"/>
              </a:solidFill>
              <a:latin typeface="Lato"/>
            </a:endParaRPr>
          </a:p>
        </p:txBody>
      </p:sp>
      <p:pic>
        <p:nvPicPr>
          <p:cNvPr id="20" name="Picture 19">
            <a:extLst>
              <a:ext uri="{FF2B5EF4-FFF2-40B4-BE49-F238E27FC236}">
                <a16:creationId xmlns:a16="http://schemas.microsoft.com/office/drawing/2014/main" id="{DF8DB08E-51F0-07B5-AAC2-FFA502EA5CA9}"/>
              </a:ext>
            </a:extLst>
          </p:cNvPr>
          <p:cNvPicPr>
            <a:picLocks noChangeAspect="1"/>
          </p:cNvPicPr>
          <p:nvPr/>
        </p:nvPicPr>
        <p:blipFill>
          <a:blip r:embed="rId3"/>
          <a:stretch>
            <a:fillRect/>
          </a:stretch>
        </p:blipFill>
        <p:spPr>
          <a:xfrm>
            <a:off x="9102992" y="96291"/>
            <a:ext cx="2793733" cy="751467"/>
          </a:xfrm>
          <a:prstGeom prst="rect">
            <a:avLst/>
          </a:prstGeom>
        </p:spPr>
      </p:pic>
      <p:pic>
        <p:nvPicPr>
          <p:cNvPr id="6" name="Picture 5">
            <a:extLst>
              <a:ext uri="{FF2B5EF4-FFF2-40B4-BE49-F238E27FC236}">
                <a16:creationId xmlns:a16="http://schemas.microsoft.com/office/drawing/2014/main" id="{A0D7B33A-C710-7784-0633-7F63DE20C41B}"/>
              </a:ext>
            </a:extLst>
          </p:cNvPr>
          <p:cNvPicPr>
            <a:picLocks noChangeAspect="1"/>
          </p:cNvPicPr>
          <p:nvPr/>
        </p:nvPicPr>
        <p:blipFill>
          <a:blip r:embed="rId4"/>
          <a:stretch>
            <a:fillRect/>
          </a:stretch>
        </p:blipFill>
        <p:spPr>
          <a:xfrm>
            <a:off x="7793905" y="1763486"/>
            <a:ext cx="4113659" cy="4298774"/>
          </a:xfrm>
          <a:prstGeom prst="rect">
            <a:avLst/>
          </a:prstGeom>
        </p:spPr>
      </p:pic>
    </p:spTree>
    <p:extLst>
      <p:ext uri="{BB962C8B-B14F-4D97-AF65-F5344CB8AC3E}">
        <p14:creationId xmlns:p14="http://schemas.microsoft.com/office/powerpoint/2010/main" val="2712311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sp>
        <p:nvSpPr>
          <p:cNvPr id="15" name="TextBox 14"/>
          <p:cNvSpPr txBox="1"/>
          <p:nvPr/>
        </p:nvSpPr>
        <p:spPr>
          <a:xfrm>
            <a:off x="368040" y="355315"/>
            <a:ext cx="11401425" cy="492443"/>
          </a:xfrm>
          <a:prstGeom prst="rect">
            <a:avLst/>
          </a:prstGeom>
          <a:noFill/>
        </p:spPr>
        <p:txBody>
          <a:bodyPr wrap="square" lIns="0" tIns="0" rIns="0" bIns="0" anchor="t">
            <a:spAutoFit/>
          </a:bodyPr>
          <a:lstStyle/>
          <a:p>
            <a:r>
              <a:rPr lang="en-US" sz="3200" dirty="0">
                <a:latin typeface="Britannic Bold" panose="020B0903060703020204" pitchFamily="34" charset="0"/>
              </a:rPr>
              <a:t>MODULES OF THE PROJECT</a:t>
            </a:r>
            <a:endParaRPr sz="3200" dirty="0">
              <a:latin typeface="Britannic Bold" panose="020B0903060703020204" pitchFamily="34" charset="0"/>
            </a:endParaRPr>
          </a:p>
        </p:txBody>
      </p:sp>
      <p:pic>
        <p:nvPicPr>
          <p:cNvPr id="20" name="Picture 19">
            <a:extLst>
              <a:ext uri="{FF2B5EF4-FFF2-40B4-BE49-F238E27FC236}">
                <a16:creationId xmlns:a16="http://schemas.microsoft.com/office/drawing/2014/main" id="{9135B5D8-55D1-FFE1-831D-E2C3E7E5B4E6}"/>
              </a:ext>
            </a:extLst>
          </p:cNvPr>
          <p:cNvPicPr>
            <a:picLocks noChangeAspect="1"/>
          </p:cNvPicPr>
          <p:nvPr/>
        </p:nvPicPr>
        <p:blipFill>
          <a:blip r:embed="rId4"/>
          <a:stretch>
            <a:fillRect/>
          </a:stretch>
        </p:blipFill>
        <p:spPr>
          <a:xfrm>
            <a:off x="9102992" y="96291"/>
            <a:ext cx="2793733" cy="751467"/>
          </a:xfrm>
          <a:prstGeom prst="rect">
            <a:avLst/>
          </a:prstGeom>
        </p:spPr>
      </p:pic>
      <p:sp>
        <p:nvSpPr>
          <p:cNvPr id="3" name="TextBox 2">
            <a:extLst>
              <a:ext uri="{FF2B5EF4-FFF2-40B4-BE49-F238E27FC236}">
                <a16:creationId xmlns:a16="http://schemas.microsoft.com/office/drawing/2014/main" id="{366DC78F-CB84-0F5D-6B1A-06BB883A90F1}"/>
              </a:ext>
            </a:extLst>
          </p:cNvPr>
          <p:cNvSpPr txBox="1"/>
          <p:nvPr/>
        </p:nvSpPr>
        <p:spPr>
          <a:xfrm>
            <a:off x="495980" y="847758"/>
            <a:ext cx="11200039" cy="6186309"/>
          </a:xfrm>
          <a:prstGeom prst="rect">
            <a:avLst/>
          </a:prstGeom>
          <a:noFill/>
        </p:spPr>
        <p:txBody>
          <a:bodyPr wrap="square" rtlCol="0">
            <a:spAutoFit/>
          </a:bodyPr>
          <a:lstStyle/>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1</a:t>
            </a:r>
            <a:r>
              <a:rPr lang="en-IN" b="1" dirty="0">
                <a:solidFill>
                  <a:schemeClr val="accent1"/>
                </a:solidFill>
              </a:rPr>
              <a:t>. </a:t>
            </a:r>
            <a:r>
              <a:rPr lang="en-IN" b="1" dirty="0">
                <a:solidFill>
                  <a:schemeClr val="accent1"/>
                </a:solidFill>
                <a:latin typeface="Times New Roman" panose="02020603050405020304" pitchFamily="18" charset="0"/>
                <a:cs typeface="Times New Roman" panose="02020603050405020304" pitchFamily="18" charset="0"/>
              </a:rPr>
              <a:t>User Authentication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registration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Secure login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validation</a:t>
            </a:r>
          </a:p>
          <a:p>
            <a:pPr>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2. Pipeline Management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income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View income records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Track income sources</a:t>
            </a:r>
          </a:p>
          <a:p>
            <a:pPr lvl="0">
              <a:lnSpc>
                <a:spcPct val="150000"/>
              </a:lnSpc>
            </a:pPr>
            <a:endParaRPr lang="en-IN" dirty="0">
              <a:latin typeface="Times New Roman" panose="02020603050405020304" pitchFamily="18" charset="0"/>
              <a:cs typeface="Times New Roman" panose="02020603050405020304" pitchFamily="18" charset="0"/>
            </a:endParaRPr>
          </a:p>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3. Water Distribution Management</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 expenses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Edit/delete records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Categorize expenses</a:t>
            </a:r>
          </a:p>
          <a:p>
            <a:endParaRPr lang="en-IN" dirty="0"/>
          </a:p>
        </p:txBody>
      </p:sp>
      <p:sp>
        <p:nvSpPr>
          <p:cNvPr id="4" name="TextBox 3">
            <a:extLst>
              <a:ext uri="{FF2B5EF4-FFF2-40B4-BE49-F238E27FC236}">
                <a16:creationId xmlns:a16="http://schemas.microsoft.com/office/drawing/2014/main" id="{DFFA91A6-919E-E03D-6ED2-E375EF3460F6}"/>
              </a:ext>
            </a:extLst>
          </p:cNvPr>
          <p:cNvSpPr txBox="1"/>
          <p:nvPr/>
        </p:nvSpPr>
        <p:spPr>
          <a:xfrm>
            <a:off x="4597836" y="847758"/>
            <a:ext cx="2941831" cy="4524315"/>
          </a:xfrm>
          <a:prstGeom prst="rect">
            <a:avLst/>
          </a:prstGeom>
          <a:noFill/>
        </p:spPr>
        <p:txBody>
          <a:bodyPr wrap="none" rtlCol="0">
            <a:spAutoFit/>
          </a:bodyPr>
          <a:lstStyle/>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4. Leakage Detection</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Search expenses</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View transaction history</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Filter records</a:t>
            </a:r>
          </a:p>
          <a:p>
            <a:pPr marL="285750" lvl="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5. Database Management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Category-wise pie chart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Monthly expense bar chart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Spending analysis</a:t>
            </a:r>
          </a:p>
          <a:p>
            <a:pPr marL="285750" lvl="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endParaRPr lang="en-IN" dirty="0"/>
          </a:p>
        </p:txBody>
      </p:sp>
      <p:sp>
        <p:nvSpPr>
          <p:cNvPr id="5" name="TextBox 4">
            <a:extLst>
              <a:ext uri="{FF2B5EF4-FFF2-40B4-BE49-F238E27FC236}">
                <a16:creationId xmlns:a16="http://schemas.microsoft.com/office/drawing/2014/main" id="{33FB30B2-76F4-88A2-716B-181BE15E2265}"/>
              </a:ext>
            </a:extLst>
          </p:cNvPr>
          <p:cNvSpPr txBox="1"/>
          <p:nvPr/>
        </p:nvSpPr>
        <p:spPr>
          <a:xfrm>
            <a:off x="8440429" y="844750"/>
            <a:ext cx="2980303" cy="4613058"/>
          </a:xfrm>
          <a:prstGeom prst="rect">
            <a:avLst/>
          </a:prstGeom>
          <a:noFill/>
        </p:spPr>
        <p:txBody>
          <a:bodyPr wrap="none" rtlCol="0">
            <a:spAutoFit/>
          </a:bodyPr>
          <a:lstStyle/>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6. Report Generation</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Total income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Total expenses</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Remaining balance</a:t>
            </a:r>
          </a:p>
          <a:p>
            <a:pPr marL="28575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Monthly summary</a:t>
            </a: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a:lnSpc>
                <a:spcPct val="150000"/>
              </a:lnSpc>
            </a:pPr>
            <a:r>
              <a:rPr lang="en-IN" b="1" dirty="0">
                <a:solidFill>
                  <a:schemeClr val="accent1"/>
                </a:solidFill>
                <a:latin typeface="Times New Roman" panose="02020603050405020304" pitchFamily="18" charset="0"/>
                <a:cs typeface="Times New Roman" panose="02020603050405020304" pitchFamily="18" charset="0"/>
              </a:rPr>
              <a:t>7. System Exit</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Store records using SQLite</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Retrieve and update data</a:t>
            </a:r>
          </a:p>
          <a:p>
            <a:pPr>
              <a:lnSpc>
                <a:spcPct val="150000"/>
              </a:lnSpc>
            </a:pP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2EC7853-B3BB-103B-4ECD-CDF12B840DEE}"/>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32B80897-58A7-1D63-F8E8-E6E057812F2D}"/>
              </a:ext>
            </a:extLst>
          </p:cNvPr>
          <p:cNvPicPr>
            <a:picLocks noChangeAspect="1"/>
          </p:cNvPicPr>
          <p:nvPr/>
        </p:nvPicPr>
        <p:blipFill>
          <a:blip r:embed="rId3"/>
          <a:stretch>
            <a:fillRect/>
          </a:stretch>
        </p:blipFill>
        <p:spPr>
          <a:xfrm>
            <a:off x="0" y="0"/>
            <a:ext cx="12192000" cy="6858000"/>
          </a:xfrm>
          <a:prstGeom prst="rect">
            <a:avLst/>
          </a:prstGeom>
        </p:spPr>
      </p:pic>
      <p:sp>
        <p:nvSpPr>
          <p:cNvPr id="15" name="TextBox 14">
            <a:extLst>
              <a:ext uri="{FF2B5EF4-FFF2-40B4-BE49-F238E27FC236}">
                <a16:creationId xmlns:a16="http://schemas.microsoft.com/office/drawing/2014/main" id="{52CC8F5A-A0D5-522F-D747-96483749D8E8}"/>
              </a:ext>
            </a:extLst>
          </p:cNvPr>
          <p:cNvSpPr txBox="1"/>
          <p:nvPr/>
        </p:nvSpPr>
        <p:spPr>
          <a:xfrm>
            <a:off x="495300" y="472024"/>
            <a:ext cx="11401425" cy="492443"/>
          </a:xfrm>
          <a:prstGeom prst="rect">
            <a:avLst/>
          </a:prstGeom>
          <a:noFill/>
        </p:spPr>
        <p:txBody>
          <a:bodyPr wrap="square" lIns="0" tIns="0" rIns="0" bIns="0" anchor="t">
            <a:spAutoFit/>
          </a:bodyPr>
          <a:lstStyle/>
          <a:p>
            <a:r>
              <a:rPr lang="en-US" sz="3200" dirty="0">
                <a:latin typeface="Britannic Bold" panose="020B0903060703020204" pitchFamily="34" charset="0"/>
              </a:rPr>
              <a:t>CONCLUSION</a:t>
            </a:r>
            <a:endParaRPr lang="en-US" sz="3000" dirty="0">
              <a:solidFill>
                <a:srgbClr val="0F172A"/>
              </a:solidFill>
              <a:latin typeface="Poppins SemiBold"/>
            </a:endParaRPr>
          </a:p>
        </p:txBody>
      </p:sp>
      <p:pic>
        <p:nvPicPr>
          <p:cNvPr id="20" name="Picture 19">
            <a:extLst>
              <a:ext uri="{FF2B5EF4-FFF2-40B4-BE49-F238E27FC236}">
                <a16:creationId xmlns:a16="http://schemas.microsoft.com/office/drawing/2014/main" id="{E43D2A66-9176-1094-01D6-5015054C3334}"/>
              </a:ext>
            </a:extLst>
          </p:cNvPr>
          <p:cNvPicPr>
            <a:picLocks noChangeAspect="1"/>
          </p:cNvPicPr>
          <p:nvPr/>
        </p:nvPicPr>
        <p:blipFill>
          <a:blip r:embed="rId4"/>
          <a:stretch>
            <a:fillRect/>
          </a:stretch>
        </p:blipFill>
        <p:spPr>
          <a:xfrm>
            <a:off x="9102992" y="96291"/>
            <a:ext cx="2793733" cy="751467"/>
          </a:xfrm>
          <a:prstGeom prst="rect">
            <a:avLst/>
          </a:prstGeom>
        </p:spPr>
      </p:pic>
      <p:sp>
        <p:nvSpPr>
          <p:cNvPr id="18" name="TextBox 17">
            <a:extLst>
              <a:ext uri="{FF2B5EF4-FFF2-40B4-BE49-F238E27FC236}">
                <a16:creationId xmlns:a16="http://schemas.microsoft.com/office/drawing/2014/main" id="{87401B9A-65D2-14C7-7F03-222B573CCFDE}"/>
              </a:ext>
            </a:extLst>
          </p:cNvPr>
          <p:cNvSpPr txBox="1"/>
          <p:nvPr/>
        </p:nvSpPr>
        <p:spPr>
          <a:xfrm>
            <a:off x="216354" y="1223491"/>
            <a:ext cx="11506200" cy="3268652"/>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IN" sz="2000" dirty="0">
                <a:solidFill>
                  <a:schemeClr val="tx2"/>
                </a:solidFill>
                <a:latin typeface="Times New Roman" panose="02020603050405020304" pitchFamily="18" charset="0"/>
                <a:cs typeface="Times New Roman" panose="02020603050405020304" pitchFamily="18" charset="0"/>
              </a:rPr>
              <a:t>  </a:t>
            </a:r>
            <a:r>
              <a:rPr lang="en-IN" sz="2000" dirty="0">
                <a:solidFill>
                  <a:schemeClr val="accent1"/>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Personal Expense Tracker with Data Visualization</a:t>
            </a:r>
            <a:r>
              <a:rPr lang="en-IN" sz="2000" dirty="0">
                <a:latin typeface="Times New Roman" panose="02020603050405020304" pitchFamily="18" charset="0"/>
                <a:cs typeface="Times New Roman" panose="02020603050405020304" pitchFamily="18" charset="0"/>
              </a:rPr>
              <a:t> provides a simple and efficient solution for managing personal finances. It combines Python programming, database management, GUI development, and data visualization to record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financial transactions.</a:t>
            </a:r>
          </a:p>
          <a:p>
            <a:pPr marL="285750" indent="-285750" algn="just">
              <a:lnSpc>
                <a:spcPct val="150000"/>
              </a:lnSpc>
              <a:buFont typeface="Wingdings" panose="05000000000000000000" pitchFamily="2" charset="2"/>
              <a:buChar char="Ø"/>
            </a:pPr>
            <a:r>
              <a:rPr lang="en-IN" sz="2000" dirty="0">
                <a:solidFill>
                  <a:schemeClr val="tx2"/>
                </a:solidFill>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By categorizing expenses and presenting them through charts, the system makes financial information easier to understand. The project reduces manual calculations, improves record organization, and helps users identify their spending patterns. Overall, it demonstrates how a simple software application can support better personal financial management.</a:t>
            </a:r>
          </a:p>
        </p:txBody>
      </p:sp>
      <p:pic>
        <p:nvPicPr>
          <p:cNvPr id="4" name="Picture 3">
            <a:extLst>
              <a:ext uri="{FF2B5EF4-FFF2-40B4-BE49-F238E27FC236}">
                <a16:creationId xmlns:a16="http://schemas.microsoft.com/office/drawing/2014/main" id="{C55300FC-DB56-F4CE-4069-857B6116275B}"/>
              </a:ext>
            </a:extLst>
          </p:cNvPr>
          <p:cNvPicPr>
            <a:picLocks noChangeAspect="1"/>
          </p:cNvPicPr>
          <p:nvPr/>
        </p:nvPicPr>
        <p:blipFill>
          <a:blip r:embed="rId5"/>
          <a:stretch>
            <a:fillRect/>
          </a:stretch>
        </p:blipFill>
        <p:spPr>
          <a:xfrm>
            <a:off x="3956617" y="4492143"/>
            <a:ext cx="4025674" cy="2106770"/>
          </a:xfrm>
          <a:prstGeom prst="rect">
            <a:avLst/>
          </a:prstGeom>
        </p:spPr>
      </p:pic>
    </p:spTree>
    <p:extLst>
      <p:ext uri="{BB962C8B-B14F-4D97-AF65-F5344CB8AC3E}">
        <p14:creationId xmlns:p14="http://schemas.microsoft.com/office/powerpoint/2010/main" val="730500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1ECB7D2-3DDA-A432-169A-64619C71194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E0A66AF5-6779-5606-E9C7-9B8D3D12E722}"/>
              </a:ext>
            </a:extLst>
          </p:cNvPr>
          <p:cNvPicPr>
            <a:picLocks noChangeAspect="1"/>
          </p:cNvPicPr>
          <p:nvPr/>
        </p:nvPicPr>
        <p:blipFill>
          <a:blip r:embed="rId3"/>
          <a:stretch>
            <a:fillRect/>
          </a:stretch>
        </p:blipFill>
        <p:spPr>
          <a:xfrm>
            <a:off x="0" y="0"/>
            <a:ext cx="12192000" cy="6858000"/>
          </a:xfrm>
          <a:prstGeom prst="rect">
            <a:avLst/>
          </a:prstGeom>
        </p:spPr>
      </p:pic>
      <p:sp>
        <p:nvSpPr>
          <p:cNvPr id="15" name="TextBox 14">
            <a:extLst>
              <a:ext uri="{FF2B5EF4-FFF2-40B4-BE49-F238E27FC236}">
                <a16:creationId xmlns:a16="http://schemas.microsoft.com/office/drawing/2014/main" id="{FBE655EA-F0E9-BC40-82FB-20DD84B2738A}"/>
              </a:ext>
            </a:extLst>
          </p:cNvPr>
          <p:cNvSpPr txBox="1"/>
          <p:nvPr/>
        </p:nvSpPr>
        <p:spPr>
          <a:xfrm>
            <a:off x="321841" y="472024"/>
            <a:ext cx="11401425" cy="492443"/>
          </a:xfrm>
          <a:prstGeom prst="rect">
            <a:avLst/>
          </a:prstGeom>
          <a:noFill/>
        </p:spPr>
        <p:txBody>
          <a:bodyPr wrap="square" lIns="0" tIns="0" rIns="0" bIns="0" anchor="t">
            <a:spAutoFit/>
          </a:bodyPr>
          <a:lstStyle/>
          <a:p>
            <a:r>
              <a:rPr lang="en-US" sz="3200" dirty="0">
                <a:latin typeface="Britannic Bold" panose="020B0903060703020204" pitchFamily="34" charset="0"/>
              </a:rPr>
              <a:t>REFERENCE</a:t>
            </a:r>
            <a:endParaRPr lang="en-US" sz="3000" dirty="0">
              <a:solidFill>
                <a:srgbClr val="0F172A"/>
              </a:solidFill>
              <a:latin typeface="Poppins SemiBold"/>
            </a:endParaRPr>
          </a:p>
        </p:txBody>
      </p:sp>
      <p:pic>
        <p:nvPicPr>
          <p:cNvPr id="20" name="Picture 19">
            <a:extLst>
              <a:ext uri="{FF2B5EF4-FFF2-40B4-BE49-F238E27FC236}">
                <a16:creationId xmlns:a16="http://schemas.microsoft.com/office/drawing/2014/main" id="{42F6EC89-AF6F-3997-BA29-FE57DEA86852}"/>
              </a:ext>
            </a:extLst>
          </p:cNvPr>
          <p:cNvPicPr>
            <a:picLocks noChangeAspect="1"/>
          </p:cNvPicPr>
          <p:nvPr/>
        </p:nvPicPr>
        <p:blipFill>
          <a:blip r:embed="rId4"/>
          <a:stretch>
            <a:fillRect/>
          </a:stretch>
        </p:blipFill>
        <p:spPr>
          <a:xfrm>
            <a:off x="9102992" y="96291"/>
            <a:ext cx="2793733" cy="751467"/>
          </a:xfrm>
          <a:prstGeom prst="rect">
            <a:avLst/>
          </a:prstGeom>
        </p:spPr>
      </p:pic>
      <p:sp>
        <p:nvSpPr>
          <p:cNvPr id="18" name="TextBox 17">
            <a:extLst>
              <a:ext uri="{FF2B5EF4-FFF2-40B4-BE49-F238E27FC236}">
                <a16:creationId xmlns:a16="http://schemas.microsoft.com/office/drawing/2014/main" id="{0458AE23-B8E7-E952-075B-B4A04631209C}"/>
              </a:ext>
            </a:extLst>
          </p:cNvPr>
          <p:cNvSpPr txBox="1"/>
          <p:nvPr/>
        </p:nvSpPr>
        <p:spPr>
          <a:xfrm>
            <a:off x="321841" y="1117813"/>
            <a:ext cx="11644312" cy="707886"/>
          </a:xfrm>
          <a:prstGeom prst="rect">
            <a:avLst/>
          </a:prstGeom>
          <a:noFill/>
        </p:spPr>
        <p:txBody>
          <a:bodyPr wrap="square" numCol="2">
            <a:spAutoFit/>
          </a:bodyPr>
          <a:lstStyle/>
          <a:p>
            <a:pPr algn="just"/>
            <a:endParaRPr lang="en-IN" sz="2000" dirty="0"/>
          </a:p>
          <a:p>
            <a:pPr algn="just"/>
            <a:endParaRPr lang="en-IN" sz="2000" dirty="0"/>
          </a:p>
        </p:txBody>
      </p:sp>
      <p:sp>
        <p:nvSpPr>
          <p:cNvPr id="6" name="TextBox 5">
            <a:extLst>
              <a:ext uri="{FF2B5EF4-FFF2-40B4-BE49-F238E27FC236}">
                <a16:creationId xmlns:a16="http://schemas.microsoft.com/office/drawing/2014/main" id="{13A60C20-6663-DCD9-6F34-6FE33F748A4A}"/>
              </a:ext>
            </a:extLst>
          </p:cNvPr>
          <p:cNvSpPr txBox="1"/>
          <p:nvPr/>
        </p:nvSpPr>
        <p:spPr>
          <a:xfrm>
            <a:off x="-3451900" y="2410358"/>
            <a:ext cx="11644312" cy="3016210"/>
          </a:xfrm>
          <a:prstGeom prst="rect">
            <a:avLst/>
          </a:prstGeom>
          <a:noFill/>
        </p:spPr>
        <p:txBody>
          <a:bodyPr wrap="square" numCol="2">
            <a:spAutoFit/>
          </a:bodyPr>
          <a:lstStyle/>
          <a:p>
            <a:pPr algn="just"/>
            <a:endParaRPr lang="en-IN" sz="2000" dirty="0"/>
          </a:p>
          <a:p>
            <a:pPr>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a:p>
            <a:pPr>
              <a:lnSpc>
                <a:spcPct val="150000"/>
              </a:lnSpc>
            </a:pPr>
            <a:endParaRPr lang="en-IN" sz="2000" dirty="0">
              <a:latin typeface="Times New Roman" panose="02020603050405020304" pitchFamily="18" charset="0"/>
              <a:cs typeface="Times New Roman" panose="02020603050405020304" pitchFamily="18" charset="0"/>
            </a:endParaRPr>
          </a:p>
          <a:p>
            <a:pPr algn="just"/>
            <a:endParaRPr lang="en-IN" sz="2000" dirty="0"/>
          </a:p>
        </p:txBody>
      </p:sp>
      <p:sp>
        <p:nvSpPr>
          <p:cNvPr id="5" name="TextBox 4">
            <a:extLst>
              <a:ext uri="{FF2B5EF4-FFF2-40B4-BE49-F238E27FC236}">
                <a16:creationId xmlns:a16="http://schemas.microsoft.com/office/drawing/2014/main" id="{5F42489E-EFE0-12C0-D45A-A2E6AA827FCC}"/>
              </a:ext>
            </a:extLst>
          </p:cNvPr>
          <p:cNvSpPr txBox="1"/>
          <p:nvPr/>
        </p:nvSpPr>
        <p:spPr>
          <a:xfrm>
            <a:off x="401444" y="1004816"/>
            <a:ext cx="11401425" cy="4007315"/>
          </a:xfrm>
          <a:prstGeom prst="rect">
            <a:avLst/>
          </a:prstGeom>
          <a:noFill/>
        </p:spPr>
        <p:txBody>
          <a:bodyPr wrap="square">
            <a:spAutoFit/>
          </a:bodyPr>
          <a:lstStyle/>
          <a:p>
            <a:pPr>
              <a:buNone/>
            </a:pPr>
            <a:endParaRPr lang="en-IN" dirty="0"/>
          </a:p>
          <a:p>
            <a:pPr marL="45720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 M. </a:t>
            </a:r>
            <a:r>
              <a:rPr lang="en-IN" sz="2000" dirty="0" err="1">
                <a:latin typeface="Times New Roman" panose="02020603050405020304" pitchFamily="18" charset="0"/>
                <a:cs typeface="Times New Roman" panose="02020603050405020304" pitchFamily="18" charset="0"/>
              </a:rPr>
              <a:t>Fahlevi</a:t>
            </a:r>
            <a:r>
              <a:rPr lang="en-IN" sz="2000" dirty="0">
                <a:latin typeface="Times New Roman" panose="02020603050405020304" pitchFamily="18" charset="0"/>
                <a:cs typeface="Times New Roman" panose="02020603050405020304" pitchFamily="18" charset="0"/>
              </a:rPr>
              <a:t>, M. Dandi, S. Dahlan, and O. P. Dahlan, </a:t>
            </a:r>
            <a:r>
              <a:rPr lang="en-IN" sz="2000" b="1" dirty="0">
                <a:latin typeface="Times New Roman" panose="02020603050405020304" pitchFamily="18" charset="0"/>
                <a:cs typeface="Times New Roman" panose="02020603050405020304" pitchFamily="18" charset="0"/>
              </a:rPr>
              <a:t>“The Impact of Digital Financial Literacy on Savings, Expenditure, and Prospective Financial </a:t>
            </a:r>
            <a:r>
              <a:rPr lang="en-IN" sz="2000" b="1" dirty="0" err="1">
                <a:latin typeface="Times New Roman" panose="02020603050405020304" pitchFamily="18" charset="0"/>
                <a:cs typeface="Times New Roman" panose="02020603050405020304" pitchFamily="18" charset="0"/>
              </a:rPr>
              <a:t>Behavior</a:t>
            </a:r>
            <a:r>
              <a:rPr lang="en-IN" sz="2000" b="1" dirty="0">
                <a:latin typeface="Times New Roman" panose="02020603050405020304" pitchFamily="18" charset="0"/>
                <a:cs typeface="Times New Roman" panose="02020603050405020304" pitchFamily="18" charset="0"/>
              </a:rPr>
              <a:t>: An Exploratory Inquiry,”</a:t>
            </a:r>
            <a:r>
              <a:rPr lang="en-IN" sz="2000" dirty="0">
                <a:latin typeface="Times New Roman" panose="02020603050405020304" pitchFamily="18" charset="0"/>
                <a:cs typeface="Times New Roman" panose="02020603050405020304" pitchFamily="18" charset="0"/>
              </a:rPr>
              <a:t> 2024 9th International Conference on Business and Industrial Research (ICBIR), 2024. </a:t>
            </a:r>
          </a:p>
          <a:p>
            <a:pPr marL="457200" indent="-457200" algn="just">
              <a:lnSpc>
                <a:spcPct val="150000"/>
              </a:lnSpc>
              <a:buFont typeface="+mj-lt"/>
              <a:buAutoNum type="arabicPeriod"/>
            </a:pPr>
            <a:r>
              <a:rPr lang="en-IN" sz="2000" b="1" dirty="0">
                <a:latin typeface="Times New Roman" panose="02020603050405020304" pitchFamily="18" charset="0"/>
                <a:cs typeface="Times New Roman" panose="02020603050405020304" pitchFamily="18" charset="0"/>
              </a:rPr>
              <a:t>“Artificial Intelligence/Machine Learning Driven Decision Making in Business Analytics for Financial Sector Using Ensemble Machine Learning Techniques,”</a:t>
            </a:r>
            <a:r>
              <a:rPr lang="en-IN" sz="2000" dirty="0">
                <a:latin typeface="Times New Roman" panose="02020603050405020304" pitchFamily="18" charset="0"/>
                <a:cs typeface="Times New Roman" panose="02020603050405020304" pitchFamily="18" charset="0"/>
              </a:rPr>
              <a:t> IEEE, 2024.</a:t>
            </a:r>
          </a:p>
          <a:p>
            <a:pPr marL="45720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E. Johri, P. Desai, P. Soni, H. Jain, and N. Sanganeria, </a:t>
            </a:r>
            <a:r>
              <a:rPr lang="en-IN" sz="2000" b="1" dirty="0">
                <a:latin typeface="Times New Roman" panose="02020603050405020304" pitchFamily="18" charset="0"/>
                <a:cs typeface="Times New Roman" panose="02020603050405020304" pitchFamily="18" charset="0"/>
              </a:rPr>
              <a:t>“Expense Management System,”</a:t>
            </a:r>
            <a:r>
              <a:rPr lang="en-IN" sz="2000" dirty="0">
                <a:latin typeface="Times New Roman" panose="02020603050405020304" pitchFamily="18" charset="0"/>
                <a:cs typeface="Times New Roman" panose="02020603050405020304" pitchFamily="18" charset="0"/>
              </a:rPr>
              <a:t> 2023 4th IEEE Global Conference for Advancement in Technology (GCAT), 2023, DOI: 10.1109/GCAT59970.2023.10353348.</a:t>
            </a:r>
          </a:p>
        </p:txBody>
      </p:sp>
    </p:spTree>
    <p:extLst>
      <p:ext uri="{BB962C8B-B14F-4D97-AF65-F5344CB8AC3E}">
        <p14:creationId xmlns:p14="http://schemas.microsoft.com/office/powerpoint/2010/main" val="42910139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723</TotalTime>
  <Words>1452</Words>
  <Application>Microsoft Office PowerPoint</Application>
  <PresentationFormat>Widescreen</PresentationFormat>
  <Paragraphs>157</Paragraphs>
  <Slides>11</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11</vt:i4>
      </vt:variant>
    </vt:vector>
  </HeadingPairs>
  <TitlesOfParts>
    <vt:vector size="22" baseType="lpstr">
      <vt:lpstr>Aptos</vt:lpstr>
      <vt:lpstr>Arial</vt:lpstr>
      <vt:lpstr>Britannic Bold</vt:lpstr>
      <vt:lpstr>Calibri</vt:lpstr>
      <vt:lpstr>Lato</vt:lpstr>
      <vt:lpstr>Poppins</vt:lpstr>
      <vt:lpstr>Poppins SemiBold</vt:lpstr>
      <vt:lpstr>Rockwell Extra 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Bala Suriya</dc:creator>
  <cp:keywords/>
  <dc:description>generated using python-pptx</dc:description>
  <cp:lastModifiedBy>SAM RAJA SINGH D</cp:lastModifiedBy>
  <cp:revision>19</cp:revision>
  <dcterms:created xsi:type="dcterms:W3CDTF">2013-01-27T09:14:16Z</dcterms:created>
  <dcterms:modified xsi:type="dcterms:W3CDTF">2026-08-10T15:17:16Z</dcterms:modified>
  <cp:category/>
</cp:coreProperties>
</file>