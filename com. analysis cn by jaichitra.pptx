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9B56F9-2F98-4782-B06C-CC1C34622D96}" v="5" dt="2026-08-23T16:29:30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chitrasavi@gmail.com" userId="d202137a115f1e51" providerId="LiveId" clId="{87226FA7-E88E-4CE7-A9D1-5DD60C532110}"/>
    <pc:docChg chg="modSld">
      <pc:chgData name="jaichitrasavi@gmail.com" userId="d202137a115f1e51" providerId="LiveId" clId="{87226FA7-E88E-4CE7-A9D1-5DD60C532110}" dt="2026-08-23T16:29:35.796" v="13" actId="1076"/>
      <pc:docMkLst>
        <pc:docMk/>
      </pc:docMkLst>
      <pc:sldChg chg="modSp mod">
        <pc:chgData name="jaichitrasavi@gmail.com" userId="d202137a115f1e51" providerId="LiveId" clId="{87226FA7-E88E-4CE7-A9D1-5DD60C532110}" dt="2026-08-23T16:23:27.711" v="2" actId="1076"/>
        <pc:sldMkLst>
          <pc:docMk/>
          <pc:sldMk cId="1286510090" sldId="258"/>
        </pc:sldMkLst>
        <pc:picChg chg="mod">
          <ac:chgData name="jaichitrasavi@gmail.com" userId="d202137a115f1e51" providerId="LiveId" clId="{87226FA7-E88E-4CE7-A9D1-5DD60C532110}" dt="2026-08-23T16:23:27.711" v="2" actId="1076"/>
          <ac:picMkLst>
            <pc:docMk/>
            <pc:sldMk cId="1286510090" sldId="258"/>
            <ac:picMk id="3" creationId="{57F261F4-ED4D-27BB-833F-26C729D4A31E}"/>
          </ac:picMkLst>
        </pc:picChg>
      </pc:sldChg>
      <pc:sldChg chg="modSp mod">
        <pc:chgData name="jaichitrasavi@gmail.com" userId="d202137a115f1e51" providerId="LiveId" clId="{87226FA7-E88E-4CE7-A9D1-5DD60C532110}" dt="2026-08-23T16:26:46.963" v="9" actId="1076"/>
        <pc:sldMkLst>
          <pc:docMk/>
          <pc:sldMk cId="1128015057" sldId="259"/>
        </pc:sldMkLst>
        <pc:spChg chg="mod">
          <ac:chgData name="jaichitrasavi@gmail.com" userId="d202137a115f1e51" providerId="LiveId" clId="{87226FA7-E88E-4CE7-A9D1-5DD60C532110}" dt="2026-08-23T16:23:44.746" v="3" actId="1076"/>
          <ac:spMkLst>
            <pc:docMk/>
            <pc:sldMk cId="1128015057" sldId="259"/>
            <ac:spMk id="2" creationId="{BF93D453-BF24-9F3E-5D4C-2194FCD0A8CE}"/>
          </ac:spMkLst>
        </pc:spChg>
        <pc:graphicFrameChg chg="mod modGraphic">
          <ac:chgData name="jaichitrasavi@gmail.com" userId="d202137a115f1e51" providerId="LiveId" clId="{87226FA7-E88E-4CE7-A9D1-5DD60C532110}" dt="2026-08-23T16:24:05.496" v="7" actId="14734"/>
          <ac:graphicFrameMkLst>
            <pc:docMk/>
            <pc:sldMk cId="1128015057" sldId="259"/>
            <ac:graphicFrameMk id="7" creationId="{7E4EC0D7-7417-4B70-E2D9-AD7DE647E28C}"/>
          </ac:graphicFrameMkLst>
        </pc:graphicFrameChg>
        <pc:picChg chg="mod">
          <ac:chgData name="jaichitrasavi@gmail.com" userId="d202137a115f1e51" providerId="LiveId" clId="{87226FA7-E88E-4CE7-A9D1-5DD60C532110}" dt="2026-08-23T16:26:46.963" v="9" actId="1076"/>
          <ac:picMkLst>
            <pc:docMk/>
            <pc:sldMk cId="1128015057" sldId="259"/>
            <ac:picMk id="3" creationId="{8ECB2C1C-8C5D-EB15-B2BF-9E21CCB78A24}"/>
          </ac:picMkLst>
        </pc:picChg>
      </pc:sldChg>
      <pc:sldChg chg="modSp mod">
        <pc:chgData name="jaichitrasavi@gmail.com" userId="d202137a115f1e51" providerId="LiveId" clId="{87226FA7-E88E-4CE7-A9D1-5DD60C532110}" dt="2026-08-23T16:29:35.796" v="13" actId="1076"/>
        <pc:sldMkLst>
          <pc:docMk/>
          <pc:sldMk cId="1672842362" sldId="260"/>
        </pc:sldMkLst>
        <pc:graphicFrameChg chg="mod modGraphic">
          <ac:chgData name="jaichitrasavi@gmail.com" userId="d202137a115f1e51" providerId="LiveId" clId="{87226FA7-E88E-4CE7-A9D1-5DD60C532110}" dt="2026-08-23T16:27:04.245" v="11" actId="14100"/>
          <ac:graphicFrameMkLst>
            <pc:docMk/>
            <pc:sldMk cId="1672842362" sldId="260"/>
            <ac:graphicFrameMk id="4" creationId="{D94F82BA-0240-095F-D31E-B390861BE789}"/>
          </ac:graphicFrameMkLst>
        </pc:graphicFrameChg>
        <pc:graphicFrameChg chg="mod">
          <ac:chgData name="jaichitrasavi@gmail.com" userId="d202137a115f1e51" providerId="LiveId" clId="{87226FA7-E88E-4CE7-A9D1-5DD60C532110}" dt="2026-08-23T16:27:24.953" v="12"/>
          <ac:graphicFrameMkLst>
            <pc:docMk/>
            <pc:sldMk cId="1672842362" sldId="260"/>
            <ac:graphicFrameMk id="7" creationId="{375D979D-BDAC-EC39-98E2-43EA48C8FC44}"/>
          </ac:graphicFrameMkLst>
        </pc:graphicFrameChg>
        <pc:picChg chg="mod">
          <ac:chgData name="jaichitrasavi@gmail.com" userId="d202137a115f1e51" providerId="LiveId" clId="{87226FA7-E88E-4CE7-A9D1-5DD60C532110}" dt="2026-08-23T16:29:35.796" v="13" actId="1076"/>
          <ac:picMkLst>
            <pc:docMk/>
            <pc:sldMk cId="1672842362" sldId="260"/>
            <ac:picMk id="3" creationId="{3843305C-B121-398A-B1E5-801F4F7007B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D1C65-F533-261D-2A2B-0752ACD31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C115B-A764-FE2C-0F94-19505D2C9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2C409-D2CB-AB41-A66E-7C4843BE0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EDC5-EA30-47F9-91EB-0DC572D914DA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46ECB-8052-8634-AB14-3054DC710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EFC17-0D67-B96C-E7EB-0C33AAE3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FD6B-6EE5-421A-93B9-3D0654576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052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4C5DD-395E-26DB-3310-A74DD6FA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3DBFB-EE5A-8C1F-C588-6F8141209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4AE1E-A11B-60B1-3C5F-A67173F2F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EDC5-EA30-47F9-91EB-0DC572D914DA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BCBC4-199F-5907-7690-1E8ED70F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90DE5-584F-0AD2-C0AA-D78951BA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FD6B-6EE5-421A-93B9-3D0654576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829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F3A1-AA61-678E-87AB-7DD27C5A7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C4E50-AAC0-DEDA-F3AD-B4FB57F5B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A3277-F8F4-D066-8FCC-FA5F7231C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EDC5-EA30-47F9-91EB-0DC572D914DA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442D9-4081-5D86-C3BB-2AB9B6BD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21D25-1063-CF4D-4F75-BD9904396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FD6B-6EE5-421A-93B9-3D0654576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207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BEF3-22F6-0B19-73F3-DE1AB582E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B0111-E749-F504-4A31-017605144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8486F-CFC4-92EA-B94E-A6466AF9B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FEA65-7C7D-7116-A24D-6E60B8D66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EDC5-EA30-47F9-91EB-0DC572D914DA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88D3E-B502-C68D-536C-7910D404F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C8384-33E5-B7DB-A6F2-CA0431E46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FD6B-6EE5-421A-93B9-3D0654576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20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E6243-ECB9-946A-2411-C2803657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B7D0F-61C2-D3B6-63E0-9EC60BC0C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10250-2B44-E582-3E74-29DAC9433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F93D3F-93CB-C481-28A7-2B358A917A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8E5A07-6B60-55C4-6800-22252557F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D5CED6-155E-AAF5-F99F-11759B229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EDC5-EA30-47F9-91EB-0DC572D914DA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FCE483-69E7-1921-FCC5-D82554543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91E958-82AF-9DD5-CE39-C77CDD5AD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FD6B-6EE5-421A-93B9-3D0654576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722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990C6-77CD-CFE6-D6AB-25C048D0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B401F-0E70-3E5B-C064-38D265F88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EDC5-EA30-47F9-91EB-0DC572D914DA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1D59F-04E8-FA50-6A19-167BF379E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F7186-D654-CF2A-68B1-283473D5F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FD6B-6EE5-421A-93B9-3D0654576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158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0B3784-AC88-E346-5CC0-0FC7298C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EDC5-EA30-47F9-91EB-0DC572D914DA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3881AA-7EE6-9611-502C-E8C772376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1D640-8A51-7DC3-BFE2-D254ABBBA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FD6B-6EE5-421A-93B9-3D0654576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99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38FDD-7729-ACE9-B4AA-1D419F086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6B435-0CA7-9736-D4BC-E5DB2398F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F4E120-58FC-C96A-94EA-8A3AB3328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BBA7A-BB1E-6BA6-6D10-12A52F70E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EDC5-EA30-47F9-91EB-0DC572D914DA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FCF5F-5B87-2B55-B20E-08209D950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FFF2F-B8D0-80B5-5CB2-78DEAAF1C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FD6B-6EE5-421A-93B9-3D0654576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309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736DE-596D-21D2-1257-5C1EC8474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4BC15F-180C-303F-D5E1-9A788AFD86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99BD5-45A8-B686-6C93-F99B4191A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46189-E1B2-23FE-5C1E-9E0A60AAD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EDC5-EA30-47F9-91EB-0DC572D914DA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A07DD-FAF7-F3AC-84E4-F5C37540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CF868-FD8F-7704-C020-42D48933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FD6B-6EE5-421A-93B9-3D0654576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82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2B33C-85D7-8618-F87C-5C6FA5BA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CEB434-389C-79DF-03F6-34F8310D2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C9511-48DD-402F-B15D-A6A7ACEF5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EDC5-EA30-47F9-91EB-0DC572D914DA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776A9-9F0D-E682-E430-6697FFE83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E97B8-E807-A2F4-21A7-01A8406E6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FD6B-6EE5-421A-93B9-3D0654576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292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0E5D6F-1741-2D62-3307-7216B75BD8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39866-344C-96D0-EE36-7B1361529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564AE-AA24-F218-813F-3A9BAFCEA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EDC5-EA30-47F9-91EB-0DC572D914DA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273F9-8C53-F806-A1D9-63385A070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27218-51E5-AE71-A506-092FFF589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FD6B-6EE5-421A-93B9-3D0654576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042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E98C5F-5294-E658-FC31-1370194E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82BBC-E554-BDA7-1E3F-D58C05A9A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5FC0F-5FE0-80B2-DEDA-261EFD587E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8EDC5-EA30-47F9-91EB-0DC572D914DA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CDE0F-C278-A5A1-7C88-CEB323AF9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43E7C-A9EF-6BD9-8184-5E0D48552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76FD6B-6EE5-421A-93B9-3D0654576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38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ECF4-DC8F-7AEE-7787-39E4BD93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7" y="138983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Transport Layer Fundamentals</a:t>
            </a:r>
            <a:endParaRPr lang="en-IN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F3B121-338D-FCE5-F6E6-9BD250E6A0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6121378"/>
              </p:ext>
            </p:extLst>
          </p:nvPr>
        </p:nvGraphicFramePr>
        <p:xfrm>
          <a:off x="845574" y="1179872"/>
          <a:ext cx="10508226" cy="3983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0426">
                  <a:extLst>
                    <a:ext uri="{9D8B030D-6E8A-4147-A177-3AD203B41FA5}">
                      <a16:colId xmlns:a16="http://schemas.microsoft.com/office/drawing/2014/main" val="362300439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88481429"/>
                    </a:ext>
                  </a:extLst>
                </a:gridCol>
              </a:tblGrid>
              <a:tr h="442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TCP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UDP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429372"/>
                  </a:ext>
                </a:extLst>
              </a:tr>
              <a:tr h="442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Connection-oriented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Connectionless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945661"/>
                  </a:ext>
                </a:extLst>
              </a:tr>
              <a:tr h="442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Reliable delivery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Unreliable delivery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1843800"/>
                  </a:ext>
                </a:extLst>
              </a:tr>
              <a:tr h="442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Ensures correct order of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Does not guarantee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979310"/>
                  </a:ext>
                </a:extLst>
              </a:tr>
              <a:tr h="442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acknowledgments and retransmission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acknowledgments or retransmission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8583834"/>
                  </a:ext>
                </a:extLst>
              </a:tr>
              <a:tr h="442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Provides flow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flow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582540"/>
                  </a:ext>
                </a:extLst>
              </a:tr>
              <a:tr h="442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Provides congestion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congestion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0718499"/>
                  </a:ext>
                </a:extLst>
              </a:tr>
              <a:tr h="442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 overhead and slower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Lower overhead and faster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72525"/>
                  </a:ext>
                </a:extLst>
              </a:tr>
              <a:tr h="442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Suitable for web, email, and file transfer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Suitable for gaming, streaming, and DNS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0443749"/>
                  </a:ext>
                </a:extLst>
              </a:tr>
            </a:tbl>
          </a:graphicData>
        </a:graphic>
      </p:graphicFrame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57F261F4-ED4D-27BB-833F-26C729D4A31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41462" y="543444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1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97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D453-BF24-9F3E-5D4C-2194FCD0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727" y="14927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sz="3200" dirty="0"/>
              <a:t>Congestion Control &amp;Quality of Service</a:t>
            </a:r>
            <a:endParaRPr lang="en-IN" sz="32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E4EC0D7-7417-4B70-E2D9-AD7DE647E2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377548"/>
              </p:ext>
            </p:extLst>
          </p:nvPr>
        </p:nvGraphicFramePr>
        <p:xfrm>
          <a:off x="481263" y="1500100"/>
          <a:ext cx="10459064" cy="5357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01264">
                  <a:extLst>
                    <a:ext uri="{9D8B030D-6E8A-4147-A177-3AD203B41FA5}">
                      <a16:colId xmlns:a16="http://schemas.microsoft.com/office/drawing/2014/main" val="13675241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70531510"/>
                    </a:ext>
                  </a:extLst>
                </a:gridCol>
              </a:tblGrid>
              <a:tr h="888700">
                <a:tc>
                  <a:txBody>
                    <a:bodyPr/>
                    <a:lstStyle/>
                    <a:p>
                      <a:r>
                        <a:rPr lang="en-US" sz="1800" b="1" dirty="0"/>
                        <a:t>Congestion Control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Quality  of Service(QoS)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358029"/>
                  </a:ext>
                </a:extLst>
              </a:tr>
              <a:tr h="888700">
                <a:tc>
                  <a:txBody>
                    <a:bodyPr/>
                    <a:lstStyle/>
                    <a:p>
                      <a:r>
                        <a:rPr lang="en-US" dirty="0"/>
                        <a:t>Prevents the network from becoming overloaded.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Ensures important traffic gets better service.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315942"/>
                  </a:ext>
                </a:extLst>
              </a:tr>
              <a:tr h="888700">
                <a:tc>
                  <a:txBody>
                    <a:bodyPr/>
                    <a:lstStyle/>
                    <a:p>
                      <a:r>
                        <a:rPr lang="en-US" dirty="0"/>
                        <a:t>Controls the amount of data sent into the network.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Prioritizes traffic such as voice and video.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686877"/>
                  </a:ext>
                </a:extLst>
              </a:tr>
              <a:tr h="888700">
                <a:tc>
                  <a:txBody>
                    <a:bodyPr/>
                    <a:lstStyle/>
                    <a:p>
                      <a:r>
                        <a:rPr lang="en-US" dirty="0"/>
                        <a:t>Reduces packet loss, delay, and retransmissions.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Reduces delay and improves performance for critical applications.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892329"/>
                  </a:ext>
                </a:extLst>
              </a:tr>
              <a:tr h="888700">
                <a:tc>
                  <a:txBody>
                    <a:bodyPr/>
                    <a:lstStyle/>
                    <a:p>
                      <a:r>
                        <a:rPr lang="en-IN" dirty="0"/>
                        <a:t>Works by adjusting the data transmission rate.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Works using prioritization, scheduling, and resource allocation.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822790"/>
                  </a:ext>
                </a:extLst>
              </a:tr>
              <a:tr h="888700">
                <a:tc>
                  <a:txBody>
                    <a:bodyPr/>
                    <a:lstStyle/>
                    <a:p>
                      <a:r>
                        <a:rPr lang="en-IN" dirty="0"/>
                        <a:t>Together, they improve overall network performance by controlling traffic and giving priority to important data.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Together, they improve overall network performance by controlling traffic and giving priority to important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227772"/>
                  </a:ext>
                </a:extLst>
              </a:tr>
            </a:tbl>
          </a:graphicData>
        </a:graphic>
      </p:graphicFrame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8ECB2C1C-8C5D-EB15-B2BF-9E21CCB78A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28452" y="14927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01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24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85EBD-1E7F-08C6-144B-BD4F95E63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Queuing Models &amp; Modern Protocols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4F82BA-0240-095F-D31E-B390861BE7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564297"/>
              </p:ext>
            </p:extLst>
          </p:nvPr>
        </p:nvGraphicFramePr>
        <p:xfrm>
          <a:off x="838200" y="1767376"/>
          <a:ext cx="10515600" cy="339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267285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58078166"/>
                    </a:ext>
                  </a:extLst>
                </a:gridCol>
              </a:tblGrid>
              <a:tr h="6784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Multi-Server Queuing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257144"/>
                  </a:ext>
                </a:extLst>
              </a:tr>
              <a:tr h="678400">
                <a:tc>
                  <a:txBody>
                    <a:bodyPr/>
                    <a:lstStyle/>
                    <a:p>
                      <a:r>
                        <a:rPr lang="en-IN" dirty="0"/>
                        <a:t>Has only one server handling all incoming requests.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Has two or more servers handling incoming requests.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759581"/>
                  </a:ext>
                </a:extLst>
              </a:tr>
              <a:tr h="678400">
                <a:tc>
                  <a:txBody>
                    <a:bodyPr/>
                    <a:lstStyle/>
                    <a:p>
                      <a:r>
                        <a:rPr lang="en-IN" dirty="0"/>
                        <a:t>Requests must wait if the single server is  busy.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Requests can be handled by any available server, reducing waiting time.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215809"/>
                  </a:ext>
                </a:extLst>
              </a:tr>
              <a:tr h="678400">
                <a:tc>
                  <a:txBody>
                    <a:bodyPr/>
                    <a:lstStyle/>
                    <a:p>
                      <a:r>
                        <a:rPr lang="en-IN" dirty="0"/>
                        <a:t>Simpler and less expensive to implement.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More complex and requires additional resources.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215198"/>
                  </a:ext>
                </a:extLst>
              </a:tr>
              <a:tr h="678400">
                <a:tc>
                  <a:txBody>
                    <a:bodyPr/>
                    <a:lstStyle/>
                    <a:p>
                      <a:r>
                        <a:rPr lang="en-IN" dirty="0"/>
                        <a:t>Suitable for low or moderate traffic.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Suitable for high traffic and heavy workloads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3083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567C125-AAC1-9605-6288-A6261CDD0D0E}"/>
              </a:ext>
            </a:extLst>
          </p:cNvPr>
          <p:cNvSpPr txBox="1"/>
          <p:nvPr/>
        </p:nvSpPr>
        <p:spPr>
          <a:xfrm>
            <a:off x="1203158" y="18857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Single-Server Queuing Model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5D979D-BDAC-EC39-98E2-43EA48C8F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031322"/>
              </p:ext>
            </p:extLst>
          </p:nvPr>
        </p:nvGraphicFramePr>
        <p:xfrm>
          <a:off x="838200" y="5159374"/>
          <a:ext cx="10515600" cy="1647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976008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65455505"/>
                    </a:ext>
                  </a:extLst>
                </a:gridCol>
              </a:tblGrid>
              <a:tr h="733008">
                <a:tc>
                  <a:txBody>
                    <a:bodyPr/>
                    <a:lstStyle/>
                    <a:p>
                      <a:r>
                        <a:rPr lang="en-IN" b="1" dirty="0"/>
                        <a:t>Example:</a:t>
                      </a:r>
                      <a:r>
                        <a:rPr lang="en-IN" dirty="0"/>
                        <a:t> A network with one router/interface processing packets.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Example:</a:t>
                      </a:r>
                      <a:r>
                        <a:rPr lang="en-IN" dirty="0"/>
                        <a:t> A busy network service using multiple servers to handle client requests.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396593"/>
                  </a:ext>
                </a:extLst>
              </a:tr>
              <a:tr h="733008">
                <a:tc>
                  <a:txBody>
                    <a:bodyPr/>
                    <a:lstStyle/>
                    <a:p>
                      <a:r>
                        <a:rPr lang="en-IN" b="1" dirty="0"/>
                        <a:t>Multi-server performs better</a:t>
                      </a:r>
                      <a:r>
                        <a:rPr lang="en-IN" dirty="0"/>
                        <a:t> when many requests arrive at the same time, because multiple servers can process requests simultaneously.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Multi-server performs better</a:t>
                      </a:r>
                      <a:r>
                        <a:rPr lang="en-IN" dirty="0"/>
                        <a:t> in high-traffic scenarios where a single server would create long queues and delays.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847330"/>
                  </a:ext>
                </a:extLst>
              </a:tr>
            </a:tbl>
          </a:graphicData>
        </a:graphic>
      </p:graphicFrame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3843305C-B121-398A-B1E5-801F4F7007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846009" y="7156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42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30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325</Words>
  <Application>Microsoft Office PowerPoint</Application>
  <PresentationFormat>Widescreen</PresentationFormat>
  <Paragraphs>47</Paragraphs>
  <Slides>3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Transport Layer Fundamentals</vt:lpstr>
      <vt:lpstr> Congestion Control &amp;Quality of Service</vt:lpstr>
      <vt:lpstr>Queuing Models &amp; Modern Protocols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jaichitrasavi@gmail.com</dc:creator>
  <cp:lastModifiedBy>jaichitrasavi@gmail.com</cp:lastModifiedBy>
  <cp:revision>1</cp:revision>
  <dcterms:created xsi:type="dcterms:W3CDTF">2026-08-23T05:03:18Z</dcterms:created>
  <dcterms:modified xsi:type="dcterms:W3CDTF">2026-08-23T16:29:41Z</dcterms:modified>
</cp:coreProperties>
</file>